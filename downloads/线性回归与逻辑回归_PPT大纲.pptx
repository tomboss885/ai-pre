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21a201510def4b54" Type="http://schemas.openxmlformats.org/officeDocument/2006/relationships/extended-properties" Target="docProps/app.xml"/><Relationship Id="R8ff38494fb5e4b54" Type="http://schemas.openxmlformats.org/package/2006/relationships/metadata/core-properties" Target="docProps/core.xml"/><Relationship Id="R9a6fa953879a41cf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5254e5d1aa54db7"/>
  </p:sldMasterIdLst>
  <p:notesMasterIdLst>
    <p:notesMasterId xmlns:r="http://schemas.openxmlformats.org/officeDocument/2006/relationships" r:id="Ra9b576c6dbfa4fc9"/>
  </p:notesMasterIdLst>
  <p:sldIdLst>
    <p:sldId xmlns:r="http://schemas.openxmlformats.org/officeDocument/2006/relationships" id="256" r:id="R802b77ed7dcb4388"/>
    <p:sldId xmlns:r="http://schemas.openxmlformats.org/officeDocument/2006/relationships" id="257" r:id="R69c96223284048db"/>
    <p:sldId xmlns:r="http://schemas.openxmlformats.org/officeDocument/2006/relationships" id="258" r:id="Rb57e7fcb58a74bd6"/>
    <p:sldId xmlns:r="http://schemas.openxmlformats.org/officeDocument/2006/relationships" id="259" r:id="R48d4769a30cd45a0"/>
    <p:sldId xmlns:r="http://schemas.openxmlformats.org/officeDocument/2006/relationships" id="260" r:id="R83a17ec06ed74dd4"/>
    <p:sldId xmlns:r="http://schemas.openxmlformats.org/officeDocument/2006/relationships" id="261" r:id="R6744afdb721c4842"/>
    <p:sldId xmlns:r="http://schemas.openxmlformats.org/officeDocument/2006/relationships" id="262" r:id="Rf5e88f66b204433d"/>
    <p:sldId xmlns:r="http://schemas.openxmlformats.org/officeDocument/2006/relationships" id="263" r:id="R52336176d7734f25"/>
    <p:sldId xmlns:r="http://schemas.openxmlformats.org/officeDocument/2006/relationships" id="264" r:id="Rabec18f881184216"/>
    <p:sldId xmlns:r="http://schemas.openxmlformats.org/officeDocument/2006/relationships" id="265" r:id="R5186388ca8894b22"/>
    <p:sldId xmlns:r="http://schemas.openxmlformats.org/officeDocument/2006/relationships" id="266" r:id="Rd6110f4d343545e9"/>
    <p:sldId xmlns:r="http://schemas.openxmlformats.org/officeDocument/2006/relationships" id="267" r:id="R312b7a9167684b3b"/>
    <p:sldId xmlns:r="http://schemas.openxmlformats.org/officeDocument/2006/relationships" id="268" r:id="R84a544e8a4d140aa"/>
    <p:sldId xmlns:r="http://schemas.openxmlformats.org/officeDocument/2006/relationships" id="269" r:id="Rca0a61ab1dbf493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05254e5d1aa54db7" Type="http://schemas.openxmlformats.org/officeDocument/2006/relationships/slideMaster" Target="slideMasters/slideMaster1.xml"/><Relationship Id="R312b7a9167684b3b" Type="http://schemas.openxmlformats.org/officeDocument/2006/relationships/slide" Target="slides/slide12.xml"/><Relationship Id="R48d4769a30cd45a0" Type="http://schemas.openxmlformats.org/officeDocument/2006/relationships/slide" Target="slides/slide4.xml"/><Relationship Id="R5186388ca8894b22" Type="http://schemas.openxmlformats.org/officeDocument/2006/relationships/slide" Target="slides/slide10.xml"/><Relationship Id="R52336176d7734f25" Type="http://schemas.openxmlformats.org/officeDocument/2006/relationships/slide" Target="slides/slide8.xml"/><Relationship Id="R6744afdb721c4842" Type="http://schemas.openxmlformats.org/officeDocument/2006/relationships/slide" Target="slides/slide6.xml"/><Relationship Id="R69c96223284048db" Type="http://schemas.openxmlformats.org/officeDocument/2006/relationships/slide" Target="slides/slide2.xml"/><Relationship Id="R802b77ed7dcb4388" Type="http://schemas.openxmlformats.org/officeDocument/2006/relationships/slide" Target="slides/slide1.xml"/><Relationship Id="R83a17ec06ed74dd4" Type="http://schemas.openxmlformats.org/officeDocument/2006/relationships/slide" Target="slides/slide5.xml"/><Relationship Id="R84a544e8a4d140aa" Type="http://schemas.openxmlformats.org/officeDocument/2006/relationships/slide" Target="slides/slide13.xml"/><Relationship Id="R957422b2855a483b" Type="http://schemas.openxmlformats.org/officeDocument/2006/relationships/tableStyles" Target="tableStyles.xml"/><Relationship Id="Ra6d53af7ec3b4fc4" Type="http://schemas.openxmlformats.org/officeDocument/2006/relationships/presProps" Target="presProps.xml"/><Relationship Id="Ra9b576c6dbfa4fc9" Type="http://schemas.openxmlformats.org/officeDocument/2006/relationships/notesMaster" Target="notesMasters/notesMaster1.xml"/><Relationship Id="Raae16c4b909a4f19" Type="http://schemas.openxmlformats.org/officeDocument/2006/relationships/theme" Target="theme/theme1.xml"/><Relationship Id="Rabec18f881184216" Type="http://schemas.openxmlformats.org/officeDocument/2006/relationships/slide" Target="slides/slide9.xml"/><Relationship Id="Rb57e7fcb58a74bd6" Type="http://schemas.openxmlformats.org/officeDocument/2006/relationships/slide" Target="slides/slide3.xml"/><Relationship Id="Rca0a61ab1dbf4939" Type="http://schemas.openxmlformats.org/officeDocument/2006/relationships/slide" Target="slides/slide14.xml"/><Relationship Id="Rd6110f4d343545e9" Type="http://schemas.openxmlformats.org/officeDocument/2006/relationships/slide" Target="slides/slide11.xml"/><Relationship Id="Rf5e88f66b204433d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b34f65414fc34690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0746d7ef0c904468" Type="http://schemas.openxmlformats.org/officeDocument/2006/relationships/slide" Target="../slides/slide1.xml"/><Relationship Id="R78457f30e0894d53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4af9838cee484675" Type="http://schemas.openxmlformats.org/officeDocument/2006/relationships/notesMaster" Target="../notesMasters/notesMaster1.xml"/><Relationship Id="R62b89d4f3ca04fa1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54a15fddf23b43b4" Type="http://schemas.openxmlformats.org/officeDocument/2006/relationships/slide" Target="../slides/slide3.xml"/><Relationship Id="R72cdc8f75f174140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7a709259bf8b4c25" Type="http://schemas.openxmlformats.org/officeDocument/2006/relationships/notesMaster" Target="../notesMasters/notesMaster1.xml"/><Relationship Id="R98f4943f34a24b7a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8837330161cf459a" Type="http://schemas.openxmlformats.org/officeDocument/2006/relationships/notesMaster" Target="../notesMasters/notesMaster1.xml"/><Relationship Id="Rf9c2e5de61804257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4374f8fbc93c4741" Type="http://schemas.openxmlformats.org/officeDocument/2006/relationships/notesMaster" Target="../notesMasters/notesMaster1.xml"/><Relationship Id="R9008ec0520e44a7a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31b6d579e1864dff" Type="http://schemas.openxmlformats.org/officeDocument/2006/relationships/slide" Target="../slides/slide7.xml"/><Relationship Id="Rdbd62d941c1d44ae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1c6b85dc1ac64e30" Type="http://schemas.openxmlformats.org/officeDocument/2006/relationships/slide" Target="../slides/slide8.xml"/><Relationship Id="Ra25c4d892b6444ef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075f410e770c4faf" Type="http://schemas.openxmlformats.org/officeDocument/2006/relationships/slide" Target="../slides/slide9.xml"/><Relationship Id="R5bbc9dd0d147428f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752b4f7c1d8d4269" Type="http://schemas.openxmlformats.org/officeDocument/2006/relationships/notesMaster" Target="../notesMasters/notesMaster1.xml"/><Relationship Id="R8e44461ef79c457c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736c415dff5f4ef1" Type="http://schemas.openxmlformats.org/officeDocument/2006/relationships/slide" Target="../slides/slide11.xml"/><Relationship Id="R7c55ebd75e6f440e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b6266876a5e64128" Type="http://schemas.openxmlformats.org/officeDocument/2006/relationships/notesMaster" Target="../notesMasters/notesMaster1.xml"/><Relationship Id="Rdeb6a9670d364ca1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783249e1517f4ed4" Type="http://schemas.openxmlformats.org/officeDocument/2006/relationships/slide" Target="../slides/slide13.xml"/><Relationship Id="Re4b23af13c264bef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0b5c2fb694cf4dd3" Type="http://schemas.openxmlformats.org/officeDocument/2006/relationships/slide" Target="../slides/slide14.xml"/><Relationship Id="R0ed84939cec143dd" Type="http://schemas.openxmlformats.org/officeDocument/2006/relationships/notesMaster" Target="../notesMasters/notesMaster1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建议时长：45秒</a:t>
            </a:r>
          </a:p>
          <a:p xmlns:a="http://schemas.openxmlformats.org/drawingml/2006/main">
            <a:r>
              <a:t>时间段：00:00 至 00:45</a:t>
            </a:r>
          </a:p>
          <a:p xmlns:a="http://schemas.openxmlformats.org/drawingml/2006/main"/>
          <a:p xmlns:a="http://schemas.openxmlformats.org/drawingml/2006/main">
            <a:r>
              <a:t>大家好，我们小组今天介绍经典机器学习算法里的线性回归和逻辑回归。先看一个熟悉的场景：如果知道一名同学的学习时长，我们能不能预测他的考试分数？如果问题换成，他这次能不能通过考试，模型又该怎样变化？前一个问题要回答一个数值，后一个问题要回答一个类别。我们会沿着这两个问题，把模型、训练和评价串起来。今天所有学生数据都由程序模拟，只用于理解算法，不能据此推断真实的学习效果，更不能给同学贴标签。</a:t>
            </a:r>
          </a:p>
          <a:p xmlns:a="http://schemas.openxmlformats.org/drawingml/2006/main"/>
          <a:p xmlns:a="http://schemas.openxmlformats.org/drawingml/2006/main">
            <a:r>
              <a:t>演示与转场：停留在两张问题卡上，强调“数值”和“类别”；不先展示公式。</a:t>
            </a:r>
          </a:p>
          <a:p xmlns:a="http://schemas.openxmlformats.org/drawingml/2006/main"/>
          <a:p xmlns:a="http://schemas.openxmlformats.org/drawingml/2006/main">
            <a:r>
              <a:t>参考资料：</a:t>
            </a:r>
          </a:p>
          <a:p xmlns:a="http://schemas.openxmlformats.org/drawingml/2006/main">
            <a:r>
              <a:t>https://developers.google.com/machine-learning/crash-course/linear-regression</a:t>
            </a:r>
          </a:p>
          <a:p xmlns:a="http://schemas.openxmlformats.org/drawingml/2006/main">
            <a:r>
              <a:t>https://developers.google.com/machine-learning/crash-course/logistic-regression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建议时长：45秒</a:t>
            </a:r>
          </a:p>
          <a:p xmlns:a="http://schemas.openxmlformats.org/drawingml/2006/main">
            <a:r>
              <a:t>时间段：00:45 至 01:30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两个算法虽然回答的问题不同，但学习流程很相似。输入的信息叫特征，例如学习时长；希望模型预测的真实答案叫标签，例如分数，或者是否通过。模型先用一组参数给出预测，再通过损失函数衡量预测与标签的差距。训练就是反复调整参数，让训练数据上的损失减小。但是训练题做得好，不代表新题也做得好，所以还要用模型没有参与训练的数据检验效果。接下来我们先把这一套流程放在线性回归上，再把它迁移到逻辑回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演示与转场：沿流程图顺序指示；“测试集在训练循环外”只点明，不在此展开数据泄漏。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参考资料：</a:t>
            </a:r>
          </a:p>
          <a:p xmlns:a="http://schemas.openxmlformats.org/drawingml/2006/main">
            <a:r>
              <a:t>https://developers.google.com/machine-learning/crash-course/linear-regression</a:t>
            </a:r>
          </a:p>
          <a:p xmlns:a="http://schemas.openxmlformats.org/drawingml/2006/main">
            <a:r>
              <a:t>https://scikit-learn.org/stable/common_pitfalls.html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建议时长：75秒</a:t>
            </a:r>
          </a:p>
          <a:p xmlns:a="http://schemas.openxmlformats.org/drawingml/2006/main">
            <a:r>
              <a:t>时间段：01:30 至 02:45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把每名同学画成一个点，横轴是学习时长，纵轴是考试分数。线性回归尝试找到一条能概括整体趋势的直线。单个特征时，预测值等于权重乘以特征，再加上偏置，也就是熟悉的斜率和截距。权重改变时，直线的倾斜程度变化；偏置改变时，直线整体上下移动。注意，我们寻找的是总体上的合适位置，不要求直线穿过每一个点，因为数据可能包含噪声和没有记录的因素。如果再加入练习完成率，就给这个新特征一个权重，把各项加起来。线性的核心是模型对这些参数保持线性；它不代表所有现实关系都天然是一条直线。图中即使出现正斜率，也只是模拟数据中的关系，不能直接解释成学习时间对成绩的因果作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演示与转场：先看图再解释参数；若本页临近75秒，略去“对参数线性”的补充例子。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参考资料：</a:t>
            </a:r>
          </a:p>
          <a:p xmlns:a="http://schemas.openxmlformats.org/drawingml/2006/main">
            <a:r>
              <a:t>https://developers.google.com/machine-learning/crash-course/linear-regression</a:t>
            </a:r>
          </a:p>
          <a:p xmlns:a="http://schemas.openxmlformats.org/drawingml/2006/main">
            <a:r>
              <a:t>https://scikit-learn.org/stable/modules/linear_model.html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建议时长：90秒</a:t>
            </a:r>
          </a:p>
          <a:p xmlns:a="http://schemas.openxmlformats.org/drawingml/2006/main">
            <a:r>
              <a:t>时间段：02:45 至 04:15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现在我们已经能画直线，但怎样判断哪一条更好？看同一个横坐标下，真实分数和预测分数的竖直差距，这个差叫残差。这里统一用预测值减真实值。残差有正有负，直接相加可能互相抵消，所以我们把每个残差平方，再求平均，得到均方误差，也就是MSE。平方会让大的偏差受到更重的惩罚，因此异常点可能明显拉动直线。现在请看网页：我先改变截距，再改变斜率，观察残差线和MSE怎样一起变化。我们不凭直觉选看起来最好看的线，而是用明确的目标比较。最后提醒，图中衡量的是竖直方向的预测误差，并不是点到直线的最短距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演示与转场：网页演示35秒：打开线性回归模块；调整截距约10秒、调整斜率约10秒；指出残差与MSE联动约10秒；恢复默认并转回PPT约5秒。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参考资料：</a:t>
            </a:r>
          </a:p>
          <a:p xmlns:a="http://schemas.openxmlformats.org/drawingml/2006/main">
            <a:r>
              <a:t>https://developers.google.com/machine-learning/crash-course/linear-regression/loss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建议时长：100秒</a:t>
            </a:r>
          </a:p>
          <a:p xmlns:a="http://schemas.openxmlformats.org/drawingml/2006/main">
            <a:r>
              <a:t>时间段：04:15 至 05:55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手动调参数很直观，但数据和参数一多，就需要算法自动寻找合适的位置。可以把损失想象成地形高度，权重和偏置决定我们站在哪里。梯度告诉我们当地上升最快的方向，因此沿相反方向走一小步，就有机会降低损失。这个步子有多大，由学习率控制。现在看演示：合适的学习率让损失逐渐降低；把学习率调得过大，参数可能来回跳动，甚至越来越远。学习率过小也不理想，因为下降会很慢。这里要区分两个概念：线性回归规定模型长什么样，梯度下降规定参数怎么学。线性回归也可以用最小二乘的数值方法求解，不是只能依靠梯度下降。我们展示这一步，是因为它还能帮助理解后面的逻辑回归和更多机器学习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演示与转场：网页演示40秒：重置后以正常学习率运行约15秒；重置后选过大学习率运行约15秒；比较损失轨迹并恢复约10秒。不要在台上等待训练很久。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参考资料：</a:t>
            </a:r>
          </a:p>
          <a:p xmlns:a="http://schemas.openxmlformats.org/drawingml/2006/main">
            <a:r>
              <a:t>https://developers.google.com/machine-learning/crash-course/linear-regression/gradient-descent</a:t>
            </a:r>
          </a:p>
          <a:p xmlns:a="http://schemas.openxmlformats.org/drawingml/2006/main">
            <a:r>
              <a:t>https://developers.google.com/machine-learning/crash-course/linear-regression/hyperparameters</a:t>
            </a:r>
          </a:p>
          <a:p xmlns:a="http://schemas.openxmlformats.org/drawingml/2006/main">
            <a:r>
              <a:t>https://scikit-learn.org/stable/modules/linear_model.html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建议时长：50秒</a:t>
            </a:r>
          </a:p>
          <a:p xmlns:a="http://schemas.openxmlformats.org/drawingml/2006/main">
            <a:r>
              <a:t>时间段：05:55 至 06:45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现在把问题从能考多少分，换成能不能通过。我们约定通过为一，也就是正类；未通过为零，也就是负类。这里的正负只是编码，没有好坏评价。能不能直接把这两个数字交给普通线性回归？可以计算，但直线的输出可能小于零或大于一，不适合直接当作概率。我们需要一个面向二分类的概率模型。逻辑回归保留线性加权这一步，再把结果转换成零到一之间的概率，最后按阈值作分类决定。它名称里有回归，却经常用于分类；这也是最容易混淆的地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演示与转场：保持“通过=正类”标注，后续混淆矩阵与阈值演示沿用同一定义。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参考资料：</a:t>
            </a:r>
          </a:p>
          <a:p xmlns:a="http://schemas.openxmlformats.org/drawingml/2006/main">
            <a:r>
              <a:t>https://developers.google.com/machine-learning/crash-course/logistic-regression</a:t>
            </a:r>
          </a:p>
          <a:p xmlns:a="http://schemas.openxmlformats.org/drawingml/2006/main">
            <a:r>
              <a:t>https://developers.google.com/machine-learning/crash-course/logistic-regression/sigmoid-function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建议时长：90秒</a:t>
            </a:r>
          </a:p>
          <a:p xmlns:a="http://schemas.openxmlformats.org/drawingml/2006/main">
            <a:r>
              <a:t>时间段：06:45 至 08:15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逻辑回归首先计算一个线性分数，记作z，再交给Sigmoid函数。这个函数画出来像一个平滑的S，把任意实数映射到零和一之间。我们可以把输出理解成模型估计的通过概率。当z等于零，概率正好是零点五；z越大，概率越接近一；z越小，概率越接近零。现在移动滑块，看看同一个线性分数怎样变成概率。曲线中间变化比较快，两端逐渐平缓。注意，零点八的通过概率不是预测得八十分，也不是保证这个人一定通过。它是模型在已有信息下给出的估计。输出落在零到一之间，只解决了数值范围问题，概率是否可靠，还要用新的数据检查。下一步，我们需要一种能训练这些概率的损失函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演示与转场：网页演示30秒：选择z=0，指出p=0.5；分别向正负方向拖动；指出曲线中段与两端变化；不要把概率读作分数。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参考资料：</a:t>
            </a:r>
          </a:p>
          <a:p xmlns:a="http://schemas.openxmlformats.org/drawingml/2006/main">
            <a:r>
              <a:t>https://developers.google.com/machine-learning/crash-course/logistic-regression/sigmoid-function</a:t>
            </a:r>
          </a:p>
          <a:p xmlns:a="http://schemas.openxmlformats.org/drawingml/2006/main">
            <a:r>
              <a:t>https://scikit-learn.org/stable/modules/calibration.html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建议时长：75秒</a:t>
            </a:r>
          </a:p>
          <a:p xmlns:a="http://schemas.openxmlformats.org/drawingml/2006/main">
            <a:r>
              <a:t>时间段：08:15 至 09:30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逻辑回归通常使用二元交叉熵，也叫对数损失。它的直觉是，让模型为真正发生的结果分配较高概率。如果真实标签是通过，预测通过概率越接近一，损失越小；如果真实标签是未通过，预测通过概率越接近零，损失越小。比如同样面对一个通过的模拟样本，预测零点九通常比零点六受到的惩罚小，而预测零点零一，意味着模型非常自信地判断错了，会受到很大的惩罚。把所有样本的损失求平均，就得到训练目标。它可以从伯努利分布的最大似然估计推导出来，今天先掌握这个直觉。随后仍然通过优化算法更新权重和偏置；需要时再加入正则化，限制过大的参数，帮助控制过拟合。分类阈值通常不参与这一步训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演示与转场：只比较三张概率卡，不逐项展开对数计算；强调“训练概率”和“选分类阈值”是两步。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参考资料：</a:t>
            </a:r>
          </a:p>
          <a:p xmlns:a="http://schemas.openxmlformats.org/drawingml/2006/main">
            <a:r>
              <a:t>https://developers.google.com/machine-learning/crash-course/logistic-regression/loss-regularization</a:t>
            </a:r>
          </a:p>
          <a:p xmlns:a="http://schemas.openxmlformats.org/drawingml/2006/main">
            <a:r>
              <a:t>https://scikit-learn.org/stable/modules/linear_model.html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建议时长：100秒</a:t>
            </a:r>
          </a:p>
          <a:p xmlns:a="http://schemas.openxmlformats.org/drawingml/2006/main">
            <a:r>
              <a:t>时间段：09:30 至 11:10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得到概率后，还要设置阈值，才能输出通过或未通过。今天约定，概率大于或等于阈值，就判为通过。零点五是常用起点，但不是所有任务的最佳选择。把预测和真实标签交叉比较，会出现四种结果：通过且预测通过，是真正例；未通过却预测通过，是假正例；通过却预测未通过，是假负例；两边都未通过，是真负例。现在保持模型不变，只调整阈值。降低阈值，会把更多样本判为通过，真正例和假正例都不会减少；提高阈值，则会减少或保持预测通过的人数，同时可能漏掉更多真正通过的样本。阈值选择取决于我们更在意哪种错误，要在验证数据上比较。不能看着测试集不断调阈值，否则最终成绩会变得过于乐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演示与转场：网页演示35秒：阈值按0.5→0.3→0.7切换，每次指出预测类别与矩阵联动；强调概率本身未变；最后恢复0.5。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参考资料：</a:t>
            </a:r>
          </a:p>
          <a:p xmlns:a="http://schemas.openxmlformats.org/drawingml/2006/main">
            <a:r>
              <a:t>https://developers.google.com/machine-learning/crash-course/classification/thresholding</a:t>
            </a:r>
          </a:p>
          <a:p xmlns:a="http://schemas.openxmlformats.org/drawingml/2006/main">
            <a:r>
              <a:t>https://scikit-learn.org/stable/common_pitfalls.html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建议时长：100秒</a:t>
            </a:r>
          </a:p>
          <a:p xmlns:a="http://schemas.openxmlformats.org/drawingml/2006/main">
            <a:r>
              <a:t>时间段：11:10 至 12:50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刚才只有一个特征，分类边界可以表现为数轴上的一个位置。如果再加入练习完成率，每个同学就变成二维平面上的一个点。逻辑回归把两个特征分别乘以权重，再加上偏置，得到线性分数。在零点五阈值下，分数等于零的位置就是决策边界；在二维图里，它通常是一条直线。两边分别对应预测通过和预测未通过。如果固定参数，只改变阈值，边界的位置会移动，概率估计没有重新训练。这里有一个很关键的区别：Sigmoid图像虽然是曲线，但标准逻辑回归在原始特征空间里的决策边界仍然是线性的。因此，当两类样本呈现环形包围等复杂关系时，一条直线可能分不开。可以引入多项式等特征变换，也可以考虑其他模型；不过复杂度提高后，仍然需要验证效果。我们不能因为某一条边界在训练图上更漂亮，就判断它一定更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演示与转场：不增加网页操作时长；使用预先截取的默认边界图。按“特征平面→直线→非线性反例”依次讲解。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参考资料：</a:t>
            </a:r>
          </a:p>
          <a:p xmlns:a="http://schemas.openxmlformats.org/drawingml/2006/main">
            <a:r>
              <a:t>https://developers.google.com/machine-learning/crash-course/logistic-regression/sigmoid-function</a:t>
            </a:r>
          </a:p>
          <a:p xmlns:a="http://schemas.openxmlformats.org/drawingml/2006/main">
            <a:r>
              <a:t>https://scikit-learn.org/stable/modules/linear_model.html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建议时长：90秒</a:t>
            </a:r>
          </a:p>
          <a:p xmlns:a="http://schemas.openxmlformats.org/drawingml/2006/main">
            <a:r>
              <a:t>时间段：12:50 至 14:20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模型训练完成以后，评价指标也必须匹配任务。对于分数预测，我们关注到底差了多少。MAE是绝对误差的平均值，RMSE对大误差更敏感，而且它们都能用分数的单位解释。R平方反映相对于评价数据均值基线的表现，通常最高是一，也可能小于零，所以不能把它直接当作准确率。对于是否通过，我们可以看准确率，但如果模拟数据里一百人有九十五人通过，全部猜通过也有百分之九十五的准确率，却完全识别不出未通过的人。因此还要结合混淆矩阵：精确率问，预测通过的人里有多少真的通过；召回率问，真正通过的人里找出了多少；F一综合考虑这两者。此外，类别判得对不对与概率估得准不准也不完全相同，对数损失可以评价概率预测。选哪些指标，应由任务和错误代价决定，不能只挑一个好看的数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演示与转场：明确精确率/召回率仍以“通过”为正类；R²负值只讲一句，不推导。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参考资料：</a:t>
            </a:r>
          </a:p>
          <a:p xmlns:a="http://schemas.openxmlformats.org/drawingml/2006/main">
            <a:r>
              <a:t>https://developers.google.com/machine-learning/crash-course/classification/accuracy-precision-recall</a:t>
            </a:r>
          </a:p>
          <a:p xmlns:a="http://schemas.openxmlformats.org/drawingml/2006/main">
            <a:r>
              <a:t>https://scikit-learn.org/stable/modules/model_evaluation.html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建议时长：90秒</a:t>
            </a:r>
          </a:p>
          <a:p xmlns:a="http://schemas.openxmlformats.org/drawingml/2006/main">
            <a:r>
              <a:t>时间段：14:20 至 15:50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如果我们课后真正做一次小实验，流程应该怎样安排？首先明确特征和标签，固定一份教学模拟数据，并记录生成方式与随机种子。接着把数据分成训练集、验证集和测试集；这里可以用六比二比二作为演示比例，但真实任务没有统一的最佳比例。如果同一个人有多条记录，或者要预测未来，还要考虑按人或按时间划分。然后建立简单基线，例如回归先预测训练集平均分，分类先使用训练集多数类别。需要标准化时，均值和方差只能从训练集学习，再用于其他集合。接下来训练模型，在验证集上选择设置与分类阈值，最后才查看测试集表现。结果表要写清楚用了什么数据、怎样划分、用了哪些指标。我们目前展示的是学习框架，不会把没有运行的实验结果编成真实结论。良好的汇报，不仅解释算法，也说明证据是怎样得到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演示与转场：展示空白结果表时把“待运行”标清楚；强调先划分、再拟合预处理。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参考资料：</a:t>
            </a:r>
          </a:p>
          <a:p xmlns:a="http://schemas.openxmlformats.org/drawingml/2006/main">
            <a:r>
              <a:t>https://scikit-learn.org/stable/common_pitfalls.html</a:t>
            </a:r>
          </a:p>
          <a:p xmlns:a="http://schemas.openxmlformats.org/drawingml/2006/main">
            <a:r>
              <a:t>https://scikit-learn.org/stable/modules/cross_validation.html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建议时长：60秒</a:t>
            </a:r>
          </a:p>
          <a:p xmlns:a="http://schemas.openxmlformats.org/drawingml/2006/main">
            <a:r>
              <a:t>时间段：15:50 至 16:50</a:t>
            </a:r>
          </a:p>
          <a:p xmlns:a="http://schemas.openxmlformats.org/drawingml/2006/main"/>
          <a:p xmlns:a="http://schemas.openxmlformats.org/drawingml/2006/main">
            <a:r>
              <a:t>把两种算法放回经典机器学习里看，共同点很清楚：它们都是监督学习，都从特征的线性加权出发，都需要通过数据学习参数。主要区别在输出和目标。线性回归直接预测连续数值，常用均方误差训练；逻辑回归先预测类别概率，常用交叉熵训练，再用阈值得到类别。它们计算和解释相对方便，适合作为建模的起点，但也有边界。线性回归可能受到异常点影响，超出数据范围的外推要谨慎；逻辑回归在原始特征中通常只能给出线性边界，输出概率也需要检验。是否增加特征、加入正则化，或者换更复杂的模型，应该由验证结果支持，而不是根据算法名字是否高级来决定。</a:t>
            </a:r>
          </a:p>
          <a:p xmlns:a="http://schemas.openxmlformats.org/drawingml/2006/main"/>
          <a:p xmlns:a="http://schemas.openxmlformats.org/drawingml/2006/main">
            <a:r>
              <a:t>演示与转场：按“共同点→核心不同→何时不够用”读表，不逐字朗读整张表。</a:t>
            </a:r>
          </a:p>
          <a:p xmlns:a="http://schemas.openxmlformats.org/drawingml/2006/main"/>
          <a:p xmlns:a="http://schemas.openxmlformats.org/drawingml/2006/main">
            <a:r>
              <a:t>参考资料：</a:t>
            </a:r>
          </a:p>
          <a:p xmlns:a="http://schemas.openxmlformats.org/drawingml/2006/main">
            <a:r>
              <a:t>https://scikit-learn.org/stable/modules/linear_model.html</a:t>
            </a:r>
          </a:p>
          <a:p xmlns:a="http://schemas.openxmlformats.org/drawingml/2006/main">
            <a:r>
              <a:t>https://developers.google.com/machine-learning/crash-course/linear-regression/loss</a:t>
            </a:r>
          </a:p>
          <a:p xmlns:a="http://schemas.openxmlformats.org/drawingml/2006/main">
            <a:r>
              <a:t>https://scikit-learn.org/stable/modules/calibration.html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建议时长：70秒</a:t>
            </a:r>
          </a:p>
          <a:p xmlns:a="http://schemas.openxmlformats.org/drawingml/2006/main">
            <a:r>
              <a:t>时间段：16:50 至 18:00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最后我们用三个小问题检查今天的主线。第一，预测考试分数和预测是否通过，最大的区别是什么？是目标变量的类型和模型输出的含义。第二，逻辑回归的概率是零点八，是不是意味着预测分数是八十分？不是，概率和分数是不同的量。第三，只调分类阈值，有没有重新训练模型？没有，改变的是决策规则。大家可以用几秒钟在心里回答。我们希望大家记住一条完整过程：先明确任务，再设计模型，用合适的损失学习参数，必要时设置决策阈值，最后在未见数据上评价。今天的网页可以继续拖动参数、观察图像并完成练习。以上是我们的小组汇报，谢谢大家，欢迎提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演示与转场：三个问题每题停顿约3秒；标准18分钟版到此结束，20分钟版另留2分钟回答问题。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参考资料：</a:t>
            </a:r>
          </a:p>
          <a:p xmlns:a="http://schemas.openxmlformats.org/drawingml/2006/main">
            <a:r>
              <a:t>https://developers.google.com/machine-learning/crash-course/linear-regression</a:t>
            </a:r>
          </a:p>
          <a:p xmlns:a="http://schemas.openxmlformats.org/drawingml/2006/main">
            <a:r>
              <a:t>https://developers.google.com/machine-learning/crash-course/logistic-regression</a:t>
            </a:r>
          </a:p>
          <a:p xmlns:a="http://schemas.openxmlformats.org/drawingml/2006/main">
            <a:r>
              <a:t>https://developers.google.com/machine-learning/crash-course/classification/thresholding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5777b9e31acd49a7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102d7d443d654f31" Type="http://schemas.openxmlformats.org/officeDocument/2006/relationships/slideLayout" Target="../slideLayouts/slideLayout1.xml"/><Relationship Id="R2d5bacefb3764bbc" Type="http://schemas.openxmlformats.org/officeDocument/2006/relationships/theme" Target="theme/theme2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02d7d443d654f3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8da770e7d1da41e3" Type="http://schemas.openxmlformats.org/officeDocument/2006/relationships/notesSlide" Target="../notesSlides/notesSlide1.xml"/><Relationship Id="Rf481fd30017c40c6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29013dcaaccf4d6a" Type="http://schemas.openxmlformats.org/officeDocument/2006/relationships/slideLayout" Target="../slideLayouts/slideLayout1.xml"/><Relationship Id="Rdba832dffcde4bb6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1397f0aaafb94e16" Type="http://schemas.openxmlformats.org/officeDocument/2006/relationships/slideLayout" Target="../slideLayouts/slideLayout1.xml"/><Relationship Id="R8ee39ea5a2e0470d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2ddec0dfa4754ad6" Type="http://schemas.openxmlformats.org/officeDocument/2006/relationships/notesSlide" Target="../notesSlides/notesSlide4.xml"/><Relationship Id="Rd93583c52d974787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15b480422a914a24" Type="http://schemas.openxmlformats.org/officeDocument/2006/relationships/slideLayout" Target="../slideLayouts/slideLayout1.xml"/><Relationship Id="Rd571bd575d29438d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58f0aa6b2e95472c" Type="http://schemas.openxmlformats.org/officeDocument/2006/relationships/notesSlide" Target="../notesSlides/notesSlide6.xml"/><Relationship Id="R80871ae77ccb465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1f55a76ea44f4c53" Type="http://schemas.openxmlformats.org/officeDocument/2006/relationships/notesSlide" Target="../notesSlides/notesSlide7.xml"/><Relationship Id="Rcd57861c02c74129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87591d801d09473d" Type="http://schemas.openxmlformats.org/officeDocument/2006/relationships/notesSlide" Target="../notesSlides/notesSlide8.xml"/><Relationship Id="R879c5f32d31d4a5f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c21b7a192b1a419e" Type="http://schemas.openxmlformats.org/officeDocument/2006/relationships/notesSlide" Target="../notesSlides/notesSlide9.xml"/><Relationship Id="Rda5c5b2c072b48bd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bae81f9293a94faa" Type="http://schemas.openxmlformats.org/officeDocument/2006/relationships/notesSlide" Target="../notesSlides/notesSlide10.xml"/><Relationship Id="Rd0d493531af04ccc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18069b77c5c54441" Type="http://schemas.openxmlformats.org/officeDocument/2006/relationships/notesSlide" Target="../notesSlides/notesSlide11.xml"/><Relationship Id="Rd79c0fb7e7614228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40395b765c76472a" Type="http://schemas.openxmlformats.org/officeDocument/2006/relationships/notesSlide" Target="../notesSlides/notesSlide12.xml"/><Relationship Id="Rf9ce35088f364504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2c809b9ccf544e7e" Type="http://schemas.openxmlformats.org/officeDocument/2006/relationships/slideLayout" Target="../slideLayouts/slideLayout1.xml"/><Relationship Id="R5df542ce5cd4476d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d2d0396a1ae942e9" Type="http://schemas.openxmlformats.org/officeDocument/2006/relationships/notesSlide" Target="../notesSlides/notesSlide14.xml"/><Relationship Id="Rf82bd326b8024dce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1-title">
            <a:extLst xmlns:a="http://schemas.openxmlformats.org/drawingml/2006/main">
              <a:ext uri="{FF2B5EF4-FFF2-40B4-BE49-F238E27FC236}">
                <a16:creationId xmlns:a16="http://schemas.microsoft.com/office/drawing/2014/main" id="{D0677F9B-3AD4-44DC-9FA4-957523EFD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02F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02F52"/>
                </a:solidFill>
                <a:latin typeface="Microsoft YaHei"/>
                <a:ea typeface="Microsoft YaHei"/>
                <a:cs typeface="Microsoft YaHei"/>
              </a:rPr>
              <a:t>两个预测问题</a:t>
            </a:r>
          </a:p>
        </p:txBody>
      </p:sp>
      <p:sp>
        <p:nvSpPr>
          <p:cNvPr id="2" name="slide-1-goal-label">
            <a:extLst xmlns:a="http://schemas.openxmlformats.org/drawingml/2006/main">
              <a:ext uri="{FF2B5EF4-FFF2-40B4-BE49-F238E27FC236}">
                <a16:creationId xmlns:a16="http://schemas.microsoft.com/office/drawing/2014/main" id="{DDF398AD-950F-4D76-80B8-E4A04441E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81175"/>
            <a:ext cx="133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87D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87D88"/>
                </a:solidFill>
                <a:latin typeface="Microsoft YaHei"/>
                <a:ea typeface="Microsoft YaHei"/>
                <a:cs typeface="Microsoft YaHei"/>
              </a:rPr>
              <a:t>本页目标</a:t>
            </a:r>
          </a:p>
        </p:txBody>
      </p:sp>
      <p:sp>
        <p:nvSpPr>
          <p:cNvPr id="3" name="slide-1-goal">
            <a:extLst xmlns:a="http://schemas.openxmlformats.org/drawingml/2006/main">
              <a:ext uri="{FF2B5EF4-FFF2-40B4-BE49-F238E27FC236}">
                <a16:creationId xmlns:a16="http://schemas.microsoft.com/office/drawing/2014/main" id="{64062EEF-289E-48C3-BBCD-08ED2714B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1733550"/>
            <a:ext cx="93916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0">
                <a:solidFill>
                  <a:srgbClr val="263E57"/>
                </a:solidFill>
                <a:latin typeface="Microsoft YaHei"/>
                <a:ea typeface="Microsoft YaHei"/>
                <a:cs typeface="Microsoft YaHei"/>
              </a:defRPr>
            </a:pPr>
            <a:r>
              <a:t>用同一个场景区分连续数值预测与二分类，点明二者都是经典监督学习里的线性基线。</a:t>
            </a:r>
          </a:p>
        </p:txBody>
      </p:sp>
      <p:sp>
        <p:nvSpPr>
          <p:cNvPr id="4" name="slide-1-points-label">
            <a:extLst xmlns:a="http://schemas.openxmlformats.org/drawingml/2006/main">
              <a:ext uri="{FF2B5EF4-FFF2-40B4-BE49-F238E27FC236}">
                <a16:creationId xmlns:a16="http://schemas.microsoft.com/office/drawing/2014/main" id="{FC027507-AB3E-4C4A-AD91-EE4E6B719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647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87D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87D88"/>
                </a:solidFill>
                <a:latin typeface="Microsoft YaHei"/>
                <a:ea typeface="Microsoft YaHei"/>
                <a:cs typeface="Microsoft YaHei"/>
              </a:rPr>
              <a:t>讲述顺序</a:t>
            </a:r>
          </a:p>
        </p:txBody>
      </p:sp>
      <p:sp>
        <p:nvSpPr>
          <p:cNvPr id="5" name="slide-1-point-1">
            <a:extLst xmlns:a="http://schemas.openxmlformats.org/drawingml/2006/main">
              <a:ext uri="{FF2B5EF4-FFF2-40B4-BE49-F238E27FC236}">
                <a16:creationId xmlns:a16="http://schemas.microsoft.com/office/drawing/2014/main" id="{1CB251FD-3D26-422E-9C21-DBFEB1B74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6715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63E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E57"/>
                </a:solidFill>
                <a:latin typeface="Microsoft YaHei"/>
                <a:ea typeface="Microsoft YaHei"/>
                <a:cs typeface="Microsoft YaHei"/>
              </a:rPr>
              <a:t>1. 情境一：根据学习时长预测考试分数</a:t>
            </a:r>
          </a:p>
        </p:txBody>
      </p:sp>
      <p:sp>
        <p:nvSpPr>
          <p:cNvPr id="6" name="slide-1-point-2">
            <a:extLst xmlns:a="http://schemas.openxmlformats.org/drawingml/2006/main">
              <a:ext uri="{FF2B5EF4-FFF2-40B4-BE49-F238E27FC236}">
                <a16:creationId xmlns:a16="http://schemas.microsoft.com/office/drawing/2014/main" id="{0A593124-2AB7-459D-A4D0-197B34576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67125"/>
            <a:ext cx="6715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63E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E57"/>
                </a:solidFill>
                <a:latin typeface="Microsoft YaHei"/>
                <a:ea typeface="Microsoft YaHei"/>
                <a:cs typeface="Microsoft YaHei"/>
              </a:rPr>
              <a:t>2. 情境二：根据学习时长预测是否通过</a:t>
            </a:r>
          </a:p>
        </p:txBody>
      </p:sp>
      <p:sp>
        <p:nvSpPr>
          <p:cNvPr id="7" name="slide-1-point-3">
            <a:extLst xmlns:a="http://schemas.openxmlformats.org/drawingml/2006/main">
              <a:ext uri="{FF2B5EF4-FFF2-40B4-BE49-F238E27FC236}">
                <a16:creationId xmlns:a16="http://schemas.microsoft.com/office/drawing/2014/main" id="{D3CC2CAB-EA81-421F-9513-4DCED839B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6715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63E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E57"/>
                </a:solidFill>
                <a:latin typeface="Microsoft YaHei"/>
                <a:ea typeface="Microsoft YaHei"/>
                <a:cs typeface="Microsoft YaHei"/>
              </a:rPr>
              <a:t>3. 先判断输出是什么，再选择模型</a:t>
            </a:r>
          </a:p>
        </p:txBody>
      </p:sp>
      <p:sp>
        <p:nvSpPr>
          <p:cNvPr id="8" name="slide-1-visual-label">
            <a:extLst xmlns:a="http://schemas.openxmlformats.org/drawingml/2006/main">
              <a:ext uri="{FF2B5EF4-FFF2-40B4-BE49-F238E27FC236}">
                <a16:creationId xmlns:a16="http://schemas.microsoft.com/office/drawing/2014/main" id="{FDCF10C6-9090-4E63-9560-88BDC4D01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686050"/>
            <a:ext cx="3409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87D88"/>
                </a:solidFill>
                <a:latin typeface="Microsoft YaHei"/>
                <a:ea typeface="Microsoft YaHei"/>
                <a:cs typeface="Microsoft YaHei"/>
              </a:defRPr>
            </a:pPr>
            <a:r>
              <a:t>本页要点</a:t>
            </a:r>
          </a:p>
        </p:txBody>
      </p:sp>
      <p:sp>
        <p:nvSpPr>
          <p:cNvPr id="9" name="slide-1-visual">
            <a:extLst xmlns:a="http://schemas.openxmlformats.org/drawingml/2006/main">
              <a:ext uri="{FF2B5EF4-FFF2-40B4-BE49-F238E27FC236}">
                <a16:creationId xmlns:a16="http://schemas.microsoft.com/office/drawing/2014/main" id="{DE8874A1-9303-416D-BA7D-C90F0268D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62300"/>
            <a:ext cx="34099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00" b="0">
                <a:solidFill>
                  <a:srgbClr val="152139"/>
                </a:solidFill>
                <a:latin typeface="Microsoft YaHei"/>
                <a:ea typeface="Microsoft YaHei"/>
                <a:cs typeface="Microsoft YaHei"/>
              </a:defRPr>
            </a:pPr>
            <a:r>
              <a:t>同一输入：学习时长</a:t>
            </a:r>
          </a:p>
          <a:p xmlns:a="http://schemas.openxmlformats.org/drawingml/2006/main">
            <a:pPr>
              <a:defRPr sz="1300">
                <a:solidFill>
                  <a:srgbClr val="152139"/>
                </a:solidFill>
                <a:latin typeface="Microsoft YaHei"/>
              </a:defRPr>
            </a:pPr>
            <a:r>
              <a:t>左：预测分数 → 线性回归</a:t>
            </a:r>
          </a:p>
          <a:p xmlns:a="http://schemas.openxmlformats.org/drawingml/2006/main">
            <a:pPr>
              <a:defRPr sz="1300">
                <a:solidFill>
                  <a:srgbClr val="152139"/>
                </a:solidFill>
                <a:latin typeface="Microsoft YaHei"/>
              </a:defRPr>
            </a:pPr>
            <a:r>
              <a:t>右：预测是否通过 → 逻辑回归</a:t>
            </a:r>
          </a:p>
          <a:p xmlns:a="http://schemas.openxmlformats.org/drawingml/2006/main">
            <a:pPr>
              <a:defRPr sz="1300">
                <a:solidFill>
                  <a:srgbClr val="152139"/>
                </a:solidFill>
                <a:latin typeface="Microsoft YaHei"/>
              </a:defRPr>
            </a:pPr>
            <a:r>
              <a:t>数据为教学模拟，非因果</a:t>
            </a:r>
          </a:p>
        </p:txBody>
      </p:sp>
      <p:sp>
        <p:nvSpPr>
          <p:cNvPr id="10" name="slide-1-timing">
            <a:extLst xmlns:a="http://schemas.openxmlformats.org/drawingml/2006/main">
              <a:ext uri="{FF2B5EF4-FFF2-40B4-BE49-F238E27FC236}">
                <a16:creationId xmlns:a16="http://schemas.microsoft.com/office/drawing/2014/main" id="{621B9F2A-85D7-49FE-B068-67717CE3D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378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3788D"/>
                </a:solidFill>
                <a:latin typeface="Microsoft YaHei"/>
                <a:ea typeface="Microsoft YaHei"/>
                <a:cs typeface="Microsoft YaHei"/>
              </a:rPr>
              <a:t>00:00 至 00:45    本页 45 秒</a:t>
            </a:r>
          </a:p>
        </p:txBody>
      </p:sp>
      <p:sp>
        <p:nvSpPr>
          <p:cNvPr id="11" name="slide-1-page">
            <a:extLst xmlns:a="http://schemas.openxmlformats.org/drawingml/2006/main">
              <a:ext uri="{FF2B5EF4-FFF2-40B4-BE49-F238E27FC236}">
                <a16:creationId xmlns:a16="http://schemas.microsoft.com/office/drawing/2014/main" id="{DAFBD803-D1E0-4231-B54E-889B49A7E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286500"/>
            <a:ext cx="1219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6378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3788D"/>
                </a:solidFill>
                <a:latin typeface="Microsoft YaHei"/>
                <a:ea typeface="Microsoft YaHei"/>
                <a:cs typeface="Microsoft YaHei"/>
              </a:rPr>
              <a:t>01 / 14</a:t>
            </a:r>
          </a:p>
        </p:txBody>
      </p:sp>
    </p:spTree>
    <p:extLst>
      <p:ext uri="{BB962C8B-B14F-4D97-AF65-F5344CB8AC3E}">
        <p14:creationId xmlns:p14="http://schemas.microsoft.com/office/powerpoint/2010/main" val="207903801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1BC7C389-7262-485B-AFED-79C41182A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02F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02F52"/>
                </a:solidFill>
                <a:latin typeface="Microsoft YaHei"/>
                <a:ea typeface="Microsoft YaHei"/>
                <a:cs typeface="Microsoft YaHei"/>
              </a:rPr>
              <a:t>共同的学习流程</a:t>
            </a:r>
          </a:p>
        </p:txBody>
      </p:sp>
      <p:sp>
        <p:nvSpPr>
          <p:cNvPr id="2" name="slide-2-goal-label">
            <a:extLst xmlns:a="http://schemas.openxmlformats.org/drawingml/2006/main">
              <a:ext uri="{FF2B5EF4-FFF2-40B4-BE49-F238E27FC236}">
                <a16:creationId xmlns:a16="http://schemas.microsoft.com/office/drawing/2014/main" id="{44D38830-308A-4180-8F44-16826BE58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81175"/>
            <a:ext cx="133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87D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87D88"/>
                </a:solidFill>
                <a:latin typeface="Microsoft YaHei"/>
                <a:ea typeface="Microsoft YaHei"/>
                <a:cs typeface="Microsoft YaHei"/>
              </a:rPr>
              <a:t>本页目标</a:t>
            </a:r>
          </a:p>
        </p:txBody>
      </p:sp>
      <p:sp>
        <p:nvSpPr>
          <p:cNvPr id="3" name="slide-2-goal">
            <a:extLst xmlns:a="http://schemas.openxmlformats.org/drawingml/2006/main">
              <a:ext uri="{FF2B5EF4-FFF2-40B4-BE49-F238E27FC236}">
                <a16:creationId xmlns:a16="http://schemas.microsoft.com/office/drawing/2014/main" id="{816C8B2D-CE82-4AFB-8492-8182020F7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1733550"/>
            <a:ext cx="93916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63E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E57"/>
                </a:solidFill>
                <a:latin typeface="Microsoft YaHei"/>
                <a:ea typeface="Microsoft YaHei"/>
                <a:cs typeface="Microsoft YaHei"/>
              </a:rPr>
              <a:t>建立特征、标签、参数、损失和训练的共同词汇。</a:t>
            </a:r>
          </a:p>
        </p:txBody>
      </p:sp>
      <p:sp>
        <p:nvSpPr>
          <p:cNvPr id="4" name="slide-2-points-label">
            <a:extLst xmlns:a="http://schemas.openxmlformats.org/drawingml/2006/main">
              <a:ext uri="{FF2B5EF4-FFF2-40B4-BE49-F238E27FC236}">
                <a16:creationId xmlns:a16="http://schemas.microsoft.com/office/drawing/2014/main" id="{483A5AE5-DFF4-415A-9B4C-01AE57A32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647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87D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87D88"/>
                </a:solidFill>
                <a:latin typeface="Microsoft YaHei"/>
                <a:ea typeface="Microsoft YaHei"/>
                <a:cs typeface="Microsoft YaHei"/>
              </a:rPr>
              <a:t>讲述顺序</a:t>
            </a:r>
          </a:p>
        </p:txBody>
      </p:sp>
      <p:sp>
        <p:nvSpPr>
          <p:cNvPr id="5" name="slide-2-point-1">
            <a:extLst xmlns:a="http://schemas.openxmlformats.org/drawingml/2006/main">
              <a:ext uri="{FF2B5EF4-FFF2-40B4-BE49-F238E27FC236}">
                <a16:creationId xmlns:a16="http://schemas.microsoft.com/office/drawing/2014/main" id="{F2CDE17A-A3C1-475C-A22A-B0FA5E1C0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6715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63E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E57"/>
                </a:solidFill>
                <a:latin typeface="Microsoft YaHei"/>
                <a:ea typeface="Microsoft YaHei"/>
                <a:cs typeface="Microsoft YaHei"/>
              </a:rPr>
              <a:t>1. 输入特征与目标标签：模型从什么预测什么</a:t>
            </a:r>
          </a:p>
        </p:txBody>
      </p:sp>
      <p:sp>
        <p:nvSpPr>
          <p:cNvPr id="6" name="slide-2-point-2">
            <a:extLst xmlns:a="http://schemas.openxmlformats.org/drawingml/2006/main">
              <a:ext uri="{FF2B5EF4-FFF2-40B4-BE49-F238E27FC236}">
                <a16:creationId xmlns:a16="http://schemas.microsoft.com/office/drawing/2014/main" id="{76F326A1-D1CD-497F-A649-4EC8C4C18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67125"/>
            <a:ext cx="6715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63E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E57"/>
                </a:solidFill>
                <a:latin typeface="Microsoft YaHei"/>
                <a:ea typeface="Microsoft YaHei"/>
                <a:cs typeface="Microsoft YaHei"/>
              </a:rPr>
              <a:t>2. 模型给出预测，损失衡量预测与标签的差距</a:t>
            </a:r>
          </a:p>
        </p:txBody>
      </p:sp>
      <p:sp>
        <p:nvSpPr>
          <p:cNvPr id="7" name="slide-2-point-3">
            <a:extLst xmlns:a="http://schemas.openxmlformats.org/drawingml/2006/main">
              <a:ext uri="{FF2B5EF4-FFF2-40B4-BE49-F238E27FC236}">
                <a16:creationId xmlns:a16="http://schemas.microsoft.com/office/drawing/2014/main" id="{00A0DF10-1C93-4AF3-8F6B-A306E5DE5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6715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63E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E57"/>
                </a:solidFill>
                <a:latin typeface="Microsoft YaHei"/>
                <a:ea typeface="Microsoft YaHei"/>
                <a:cs typeface="Microsoft YaHei"/>
              </a:rPr>
              <a:t>3. 训练调整参数，最后用未见数据评价</a:t>
            </a:r>
          </a:p>
        </p:txBody>
      </p:sp>
      <p:sp>
        <p:nvSpPr>
          <p:cNvPr id="8" name="slide-2-visual-label">
            <a:extLst xmlns:a="http://schemas.openxmlformats.org/drawingml/2006/main">
              <a:ext uri="{FF2B5EF4-FFF2-40B4-BE49-F238E27FC236}">
                <a16:creationId xmlns:a16="http://schemas.microsoft.com/office/drawing/2014/main" id="{36D95984-50E4-4039-B40F-9E6C1F121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686050"/>
            <a:ext cx="3409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87D88"/>
                </a:solidFill>
                <a:latin typeface="Microsoft YaHei"/>
                <a:ea typeface="Microsoft YaHei"/>
                <a:cs typeface="Microsoft YaHei"/>
              </a:defRPr>
            </a:pPr>
            <a:r>
              <a:t>本页要点</a:t>
            </a:r>
          </a:p>
        </p:txBody>
      </p:sp>
      <p:sp>
        <p:nvSpPr>
          <p:cNvPr id="9" name="slide-2-visual">
            <a:extLst xmlns:a="http://schemas.openxmlformats.org/drawingml/2006/main">
              <a:ext uri="{FF2B5EF4-FFF2-40B4-BE49-F238E27FC236}">
                <a16:creationId xmlns:a16="http://schemas.microsoft.com/office/drawing/2014/main" id="{FD82727F-2C8D-4577-A195-02AC6955E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62300"/>
            <a:ext cx="34099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00" b="0">
                <a:solidFill>
                  <a:srgbClr val="152139"/>
                </a:solidFill>
                <a:latin typeface="Microsoft YaHei"/>
                <a:ea typeface="Microsoft YaHei"/>
                <a:cs typeface="Microsoft YaHei"/>
              </a:defRPr>
            </a:pPr>
            <a:r>
              <a:t>特征 → 模型 → 预测</a:t>
            </a:r>
          </a:p>
          <a:p xmlns:a="http://schemas.openxmlformats.org/drawingml/2006/main">
            <a:pPr>
              <a:defRPr sz="1300">
                <a:solidFill>
                  <a:srgbClr val="152139"/>
                </a:solidFill>
                <a:latin typeface="Microsoft YaHei"/>
              </a:defRPr>
            </a:pPr>
            <a:r>
              <a:t>→ 损失 → 更新参数</a:t>
            </a:r>
          </a:p>
          <a:p xmlns:a="http://schemas.openxmlformats.org/drawingml/2006/main">
            <a:pPr>
              <a:defRPr sz="1300">
                <a:solidFill>
                  <a:srgbClr val="152139"/>
                </a:solidFill>
                <a:latin typeface="Microsoft YaHei"/>
              </a:defRPr>
            </a:pPr>
            <a:r>
              <a:t>测试集在循环外</a:t>
            </a:r>
          </a:p>
          <a:p xmlns:a="http://schemas.openxmlformats.org/drawingml/2006/main">
            <a:pPr>
              <a:defRPr sz="1300">
                <a:solidFill>
                  <a:srgbClr val="152139"/>
                </a:solidFill>
                <a:latin typeface="Microsoft YaHei"/>
              </a:defRPr>
            </a:pPr>
            <a:r>
              <a:t>只评价，不参与训练</a:t>
            </a:r>
          </a:p>
        </p:txBody>
      </p:sp>
      <p:sp>
        <p:nvSpPr>
          <p:cNvPr id="10" name="slide-2-timing">
            <a:extLst xmlns:a="http://schemas.openxmlformats.org/drawingml/2006/main">
              <a:ext uri="{FF2B5EF4-FFF2-40B4-BE49-F238E27FC236}">
                <a16:creationId xmlns:a16="http://schemas.microsoft.com/office/drawing/2014/main" id="{64B10CE6-ACA3-46C0-8922-96EB27831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378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3788D"/>
                </a:solidFill>
                <a:latin typeface="Microsoft YaHei"/>
                <a:ea typeface="Microsoft YaHei"/>
                <a:cs typeface="Microsoft YaHei"/>
              </a:rPr>
              <a:t>00:45 至 01:30    本页 45 秒</a:t>
            </a:r>
          </a:p>
        </p:txBody>
      </p:sp>
      <p:sp>
        <p:nvSpPr>
          <p:cNvPr id="11" name="slide-2-page">
            <a:extLst xmlns:a="http://schemas.openxmlformats.org/drawingml/2006/main">
              <a:ext uri="{FF2B5EF4-FFF2-40B4-BE49-F238E27FC236}">
                <a16:creationId xmlns:a16="http://schemas.microsoft.com/office/drawing/2014/main" id="{724AD571-0378-4C16-A296-30705689B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286500"/>
            <a:ext cx="1219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6378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3788D"/>
                </a:solidFill>
                <a:latin typeface="Microsoft YaHei"/>
                <a:ea typeface="Microsoft YaHei"/>
                <a:cs typeface="Microsoft YaHei"/>
              </a:rPr>
              <a:t>02 / 14</a:t>
            </a:r>
          </a:p>
        </p:txBody>
      </p:sp>
    </p:spTree>
    <p:extLst>
      <p:ext uri="{BB962C8B-B14F-4D97-AF65-F5344CB8AC3E}">
        <p14:creationId xmlns:p14="http://schemas.microsoft.com/office/powerpoint/2010/main" val="45498263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7436F3B5-A47B-409C-A9DC-81484B7FA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02F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02F52"/>
                </a:solidFill>
                <a:latin typeface="Microsoft YaHei"/>
                <a:ea typeface="Microsoft YaHei"/>
                <a:cs typeface="Microsoft YaHei"/>
              </a:rPr>
              <a:t>线性回归的模型</a:t>
            </a:r>
          </a:p>
        </p:txBody>
      </p:sp>
      <p:sp>
        <p:nvSpPr>
          <p:cNvPr id="2" name="slide-3-goal-label">
            <a:extLst xmlns:a="http://schemas.openxmlformats.org/drawingml/2006/main">
              <a:ext uri="{FF2B5EF4-FFF2-40B4-BE49-F238E27FC236}">
                <a16:creationId xmlns:a16="http://schemas.microsoft.com/office/drawing/2014/main" id="{FFAA6A61-B2F3-468F-9A9A-8915EEE01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81175"/>
            <a:ext cx="133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87D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87D88"/>
                </a:solidFill>
                <a:latin typeface="Microsoft YaHei"/>
                <a:ea typeface="Microsoft YaHei"/>
                <a:cs typeface="Microsoft YaHei"/>
              </a:rPr>
              <a:t>本页目标</a:t>
            </a:r>
          </a:p>
        </p:txBody>
      </p:sp>
      <p:sp>
        <p:nvSpPr>
          <p:cNvPr id="3" name="slide-3-goal">
            <a:extLst xmlns:a="http://schemas.openxmlformats.org/drawingml/2006/main">
              <a:ext uri="{FF2B5EF4-FFF2-40B4-BE49-F238E27FC236}">
                <a16:creationId xmlns:a16="http://schemas.microsoft.com/office/drawing/2014/main" id="{E4B18485-558D-4E25-9790-C5A13A8F0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1733550"/>
            <a:ext cx="93916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63E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E57"/>
                </a:solidFill>
                <a:latin typeface="Microsoft YaHei"/>
                <a:ea typeface="Microsoft YaHei"/>
                <a:cs typeface="Microsoft YaHei"/>
              </a:rPr>
              <a:t>把散点图中的直线与线性回归参数对应起来。</a:t>
            </a:r>
          </a:p>
        </p:txBody>
      </p:sp>
      <p:sp>
        <p:nvSpPr>
          <p:cNvPr id="4" name="slide-3-points-label">
            <a:extLst xmlns:a="http://schemas.openxmlformats.org/drawingml/2006/main">
              <a:ext uri="{FF2B5EF4-FFF2-40B4-BE49-F238E27FC236}">
                <a16:creationId xmlns:a16="http://schemas.microsoft.com/office/drawing/2014/main" id="{1CC60F84-F4A5-454F-A439-72B5388AD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647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87D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87D88"/>
                </a:solidFill>
                <a:latin typeface="Microsoft YaHei"/>
                <a:ea typeface="Microsoft YaHei"/>
                <a:cs typeface="Microsoft YaHei"/>
              </a:rPr>
              <a:t>讲述顺序</a:t>
            </a:r>
          </a:p>
        </p:txBody>
      </p:sp>
      <p:sp>
        <p:nvSpPr>
          <p:cNvPr id="5" name="slide-3-point-1">
            <a:extLst xmlns:a="http://schemas.openxmlformats.org/drawingml/2006/main">
              <a:ext uri="{FF2B5EF4-FFF2-40B4-BE49-F238E27FC236}">
                <a16:creationId xmlns:a16="http://schemas.microsoft.com/office/drawing/2014/main" id="{83EE662A-9EE2-439B-8FE6-DCF03B34D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6715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63E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E57"/>
                </a:solidFill>
                <a:latin typeface="Microsoft YaHei"/>
                <a:ea typeface="Microsoft YaHei"/>
                <a:cs typeface="Microsoft YaHei"/>
              </a:rPr>
              <a:t>1. 单特征模型：用一条直线近似特征与数值目标的关系</a:t>
            </a:r>
          </a:p>
        </p:txBody>
      </p:sp>
      <p:sp>
        <p:nvSpPr>
          <p:cNvPr id="6" name="slide-3-point-2">
            <a:extLst xmlns:a="http://schemas.openxmlformats.org/drawingml/2006/main">
              <a:ext uri="{FF2B5EF4-FFF2-40B4-BE49-F238E27FC236}">
                <a16:creationId xmlns:a16="http://schemas.microsoft.com/office/drawing/2014/main" id="{B32A79DE-5AE5-4589-B451-7BEAA44EF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67125"/>
            <a:ext cx="6715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63E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E57"/>
                </a:solidFill>
                <a:latin typeface="Microsoft YaHei"/>
                <a:ea typeface="Microsoft YaHei"/>
                <a:cs typeface="Microsoft YaHei"/>
              </a:rPr>
              <a:t>2. 斜率决定变化方向和速度，截距决定整体位置</a:t>
            </a:r>
          </a:p>
        </p:txBody>
      </p:sp>
      <p:sp>
        <p:nvSpPr>
          <p:cNvPr id="7" name="slide-3-point-3">
            <a:extLst xmlns:a="http://schemas.openxmlformats.org/drawingml/2006/main">
              <a:ext uri="{FF2B5EF4-FFF2-40B4-BE49-F238E27FC236}">
                <a16:creationId xmlns:a16="http://schemas.microsoft.com/office/drawing/2014/main" id="{934089F6-E089-4304-A311-5823EBEEC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6715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63E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E57"/>
                </a:solidFill>
                <a:latin typeface="Microsoft YaHei"/>
                <a:ea typeface="Microsoft YaHei"/>
                <a:cs typeface="Microsoft YaHei"/>
              </a:rPr>
              <a:t>3. 扩展到多个特征，理解“对参数线性”的含义</a:t>
            </a:r>
          </a:p>
        </p:txBody>
      </p:sp>
      <p:sp>
        <p:nvSpPr>
          <p:cNvPr id="8" name="slide-3-visual-label">
            <a:extLst xmlns:a="http://schemas.openxmlformats.org/drawingml/2006/main">
              <a:ext uri="{FF2B5EF4-FFF2-40B4-BE49-F238E27FC236}">
                <a16:creationId xmlns:a16="http://schemas.microsoft.com/office/drawing/2014/main" id="{DBB6306E-0922-48CD-A9C4-989EA5FAC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686050"/>
            <a:ext cx="3409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87D88"/>
                </a:solidFill>
                <a:latin typeface="Microsoft YaHei"/>
                <a:ea typeface="Microsoft YaHei"/>
                <a:cs typeface="Microsoft YaHei"/>
              </a:defRPr>
            </a:pPr>
            <a:r>
              <a:t>本页要点</a:t>
            </a:r>
          </a:p>
        </p:txBody>
      </p:sp>
      <p:sp>
        <p:nvSpPr>
          <p:cNvPr id="9" name="slide-3-visual">
            <a:extLst xmlns:a="http://schemas.openxmlformats.org/drawingml/2006/main">
              <a:ext uri="{FF2B5EF4-FFF2-40B4-BE49-F238E27FC236}">
                <a16:creationId xmlns:a16="http://schemas.microsoft.com/office/drawing/2014/main" id="{8E33C806-46CF-419C-BA3D-F4B905E31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62300"/>
            <a:ext cx="34099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00" b="0">
                <a:solidFill>
                  <a:srgbClr val="152139"/>
                </a:solidFill>
                <a:latin typeface="Microsoft YaHei"/>
                <a:ea typeface="Microsoft YaHei"/>
                <a:cs typeface="Microsoft YaHei"/>
              </a:defRPr>
            </a:pPr>
            <a:r>
              <a:t>ŷ = wx + b</a:t>
            </a:r>
          </a:p>
          <a:p xmlns:a="http://schemas.openxmlformats.org/drawingml/2006/main">
            <a:pPr>
              <a:defRPr sz="1300">
                <a:solidFill>
                  <a:srgbClr val="152139"/>
                </a:solidFill>
                <a:latin typeface="Microsoft YaHei"/>
              </a:defRPr>
            </a:pPr>
            <a:r>
              <a:t>w：斜率，管倾斜</a:t>
            </a:r>
          </a:p>
          <a:p xmlns:a="http://schemas.openxmlformats.org/drawingml/2006/main">
            <a:pPr>
              <a:defRPr sz="1300">
                <a:solidFill>
                  <a:srgbClr val="152139"/>
                </a:solidFill>
                <a:latin typeface="Microsoft YaHei"/>
              </a:defRPr>
            </a:pPr>
            <a:r>
              <a:t>b：截距，管上下平移</a:t>
            </a:r>
          </a:p>
          <a:p xmlns:a="http://schemas.openxmlformats.org/drawingml/2006/main">
            <a:pPr>
              <a:defRPr sz="1300">
                <a:solidFill>
                  <a:srgbClr val="152139"/>
                </a:solidFill>
                <a:latin typeface="Microsoft YaHei"/>
              </a:defRPr>
            </a:pPr>
            <a:r>
              <a:t>不要求穿过每个点</a:t>
            </a:r>
          </a:p>
        </p:txBody>
      </p:sp>
      <p:sp>
        <p:nvSpPr>
          <p:cNvPr id="10" name="slide-3-timing">
            <a:extLst xmlns:a="http://schemas.openxmlformats.org/drawingml/2006/main">
              <a:ext uri="{FF2B5EF4-FFF2-40B4-BE49-F238E27FC236}">
                <a16:creationId xmlns:a16="http://schemas.microsoft.com/office/drawing/2014/main" id="{28863F3D-3928-407F-88D9-B379AE7A6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378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3788D"/>
                </a:solidFill>
                <a:latin typeface="Microsoft YaHei"/>
                <a:ea typeface="Microsoft YaHei"/>
                <a:cs typeface="Microsoft YaHei"/>
              </a:rPr>
              <a:t>01:30 至 02:45    本页 75 秒</a:t>
            </a:r>
          </a:p>
        </p:txBody>
      </p:sp>
      <p:sp>
        <p:nvSpPr>
          <p:cNvPr id="11" name="slide-3-page">
            <a:extLst xmlns:a="http://schemas.openxmlformats.org/drawingml/2006/main">
              <a:ext uri="{FF2B5EF4-FFF2-40B4-BE49-F238E27FC236}">
                <a16:creationId xmlns:a16="http://schemas.microsoft.com/office/drawing/2014/main" id="{BCBF9AA1-F3D1-4C0E-A771-BA1835897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286500"/>
            <a:ext cx="1219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6378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3788D"/>
                </a:solidFill>
                <a:latin typeface="Microsoft YaHei"/>
                <a:ea typeface="Microsoft YaHei"/>
                <a:cs typeface="Microsoft YaHei"/>
              </a:rPr>
              <a:t>03 / 14</a:t>
            </a:r>
          </a:p>
        </p:txBody>
      </p:sp>
    </p:spTree>
    <p:extLst>
      <p:ext uri="{BB962C8B-B14F-4D97-AF65-F5344CB8AC3E}">
        <p14:creationId xmlns:p14="http://schemas.microsoft.com/office/powerpoint/2010/main" val="111530221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4-title">
            <a:extLst xmlns:a="http://schemas.openxmlformats.org/drawingml/2006/main">
              <a:ext uri="{FF2B5EF4-FFF2-40B4-BE49-F238E27FC236}">
                <a16:creationId xmlns:a16="http://schemas.microsoft.com/office/drawing/2014/main" id="{A70B1D8E-CCE6-4BF6-8C4E-5A9D58C94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02F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02F52"/>
                </a:solidFill>
                <a:latin typeface="Microsoft YaHei"/>
                <a:ea typeface="Microsoft YaHei"/>
                <a:cs typeface="Microsoft YaHei"/>
              </a:rPr>
              <a:t>残差与均方误差</a:t>
            </a:r>
          </a:p>
        </p:txBody>
      </p:sp>
      <p:sp>
        <p:nvSpPr>
          <p:cNvPr id="2" name="slide-4-goal-label">
            <a:extLst xmlns:a="http://schemas.openxmlformats.org/drawingml/2006/main">
              <a:ext uri="{FF2B5EF4-FFF2-40B4-BE49-F238E27FC236}">
                <a16:creationId xmlns:a16="http://schemas.microsoft.com/office/drawing/2014/main" id="{A31092FE-DBB5-40DD-9FB0-9753B142F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81175"/>
            <a:ext cx="133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87D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87D88"/>
                </a:solidFill>
                <a:latin typeface="Microsoft YaHei"/>
                <a:ea typeface="Microsoft YaHei"/>
                <a:cs typeface="Microsoft YaHei"/>
              </a:rPr>
              <a:t>本页目标</a:t>
            </a:r>
          </a:p>
        </p:txBody>
      </p:sp>
      <p:sp>
        <p:nvSpPr>
          <p:cNvPr id="3" name="slide-4-goal">
            <a:extLst xmlns:a="http://schemas.openxmlformats.org/drawingml/2006/main">
              <a:ext uri="{FF2B5EF4-FFF2-40B4-BE49-F238E27FC236}">
                <a16:creationId xmlns:a16="http://schemas.microsoft.com/office/drawing/2014/main" id="{852FDCF5-8F19-4D78-A21D-A00AC7F17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1733550"/>
            <a:ext cx="93916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63E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E57"/>
                </a:solidFill>
                <a:latin typeface="Microsoft YaHei"/>
                <a:ea typeface="Microsoft YaHei"/>
                <a:cs typeface="Microsoft YaHei"/>
              </a:rPr>
              <a:t>从点到直线的竖直差距建立残差与MSE的直观认识。</a:t>
            </a:r>
          </a:p>
        </p:txBody>
      </p:sp>
      <p:sp>
        <p:nvSpPr>
          <p:cNvPr id="4" name="slide-4-points-label">
            <a:extLst xmlns:a="http://schemas.openxmlformats.org/drawingml/2006/main">
              <a:ext uri="{FF2B5EF4-FFF2-40B4-BE49-F238E27FC236}">
                <a16:creationId xmlns:a16="http://schemas.microsoft.com/office/drawing/2014/main" id="{F52B613A-4505-4C05-854F-3828EF043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647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87D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87D88"/>
                </a:solidFill>
                <a:latin typeface="Microsoft YaHei"/>
                <a:ea typeface="Microsoft YaHei"/>
                <a:cs typeface="Microsoft YaHei"/>
              </a:rPr>
              <a:t>讲述顺序</a:t>
            </a:r>
          </a:p>
        </p:txBody>
      </p:sp>
      <p:sp>
        <p:nvSpPr>
          <p:cNvPr id="5" name="slide-4-point-1">
            <a:extLst xmlns:a="http://schemas.openxmlformats.org/drawingml/2006/main">
              <a:ext uri="{FF2B5EF4-FFF2-40B4-BE49-F238E27FC236}">
                <a16:creationId xmlns:a16="http://schemas.microsoft.com/office/drawing/2014/main" id="{6EEDC853-5C03-44E9-AC95-128502D2F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6715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63E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E57"/>
                </a:solidFill>
                <a:latin typeface="Microsoft YaHei"/>
                <a:ea typeface="Microsoft YaHei"/>
                <a:cs typeface="Microsoft YaHei"/>
              </a:rPr>
              <a:t>1. 残差：同一个输入位置上，预测值减真实值</a:t>
            </a:r>
          </a:p>
        </p:txBody>
      </p:sp>
      <p:sp>
        <p:nvSpPr>
          <p:cNvPr id="6" name="slide-4-point-2">
            <a:extLst xmlns:a="http://schemas.openxmlformats.org/drawingml/2006/main">
              <a:ext uri="{FF2B5EF4-FFF2-40B4-BE49-F238E27FC236}">
                <a16:creationId xmlns:a16="http://schemas.microsoft.com/office/drawing/2014/main" id="{E70792DC-B2C2-4460-BEE1-76AF3EFF1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67125"/>
            <a:ext cx="6715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63E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E57"/>
                </a:solidFill>
                <a:latin typeface="Microsoft YaHei"/>
                <a:ea typeface="Microsoft YaHei"/>
                <a:cs typeface="Microsoft YaHei"/>
              </a:rPr>
              <a:t>2. 平方后求平均，避免正负抵消并强调较大偏差</a:t>
            </a:r>
          </a:p>
        </p:txBody>
      </p:sp>
      <p:sp>
        <p:nvSpPr>
          <p:cNvPr id="7" name="slide-4-point-3">
            <a:extLst xmlns:a="http://schemas.openxmlformats.org/drawingml/2006/main">
              <a:ext uri="{FF2B5EF4-FFF2-40B4-BE49-F238E27FC236}">
                <a16:creationId xmlns:a16="http://schemas.microsoft.com/office/drawing/2014/main" id="{AE8E09D9-7FFB-41DE-BA40-7C28B4B9C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6715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63E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E57"/>
                </a:solidFill>
                <a:latin typeface="Microsoft YaHei"/>
                <a:ea typeface="Microsoft YaHei"/>
                <a:cs typeface="Microsoft YaHei"/>
              </a:rPr>
              <a:t>3. 拖动参数，观察拟合直线、残差和MSE一起变化</a:t>
            </a:r>
          </a:p>
        </p:txBody>
      </p:sp>
      <p:sp>
        <p:nvSpPr>
          <p:cNvPr id="8" name="slide-4-visual-label">
            <a:extLst xmlns:a="http://schemas.openxmlformats.org/drawingml/2006/main">
              <a:ext uri="{FF2B5EF4-FFF2-40B4-BE49-F238E27FC236}">
                <a16:creationId xmlns:a16="http://schemas.microsoft.com/office/drawing/2014/main" id="{4E658532-3E2B-4456-A158-127FBE184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686050"/>
            <a:ext cx="3409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87D88"/>
                </a:solidFill>
                <a:latin typeface="Microsoft YaHei"/>
                <a:ea typeface="Microsoft YaHei"/>
                <a:cs typeface="Microsoft YaHei"/>
              </a:defRPr>
            </a:pPr>
            <a:r>
              <a:t>本页要点</a:t>
            </a:r>
          </a:p>
        </p:txBody>
      </p:sp>
      <p:sp>
        <p:nvSpPr>
          <p:cNvPr id="9" name="slide-4-visual">
            <a:extLst xmlns:a="http://schemas.openxmlformats.org/drawingml/2006/main">
              <a:ext uri="{FF2B5EF4-FFF2-40B4-BE49-F238E27FC236}">
                <a16:creationId xmlns:a16="http://schemas.microsoft.com/office/drawing/2014/main" id="{B9A62A7D-E53B-490C-94F3-F7EAF43D6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62300"/>
            <a:ext cx="34099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00" b="0">
                <a:solidFill>
                  <a:srgbClr val="152139"/>
                </a:solidFill>
                <a:latin typeface="Microsoft YaHei"/>
                <a:ea typeface="Microsoft YaHei"/>
                <a:cs typeface="Microsoft YaHei"/>
              </a:defRPr>
            </a:pPr>
            <a:r>
              <a:t>残差 e = ŷ − y</a:t>
            </a:r>
          </a:p>
          <a:p xmlns:a="http://schemas.openxmlformats.org/drawingml/2006/main">
            <a:pPr>
              <a:defRPr sz="1300">
                <a:solidFill>
                  <a:srgbClr val="152139"/>
                </a:solidFill>
                <a:latin typeface="Microsoft YaHei"/>
              </a:defRPr>
            </a:pPr>
            <a:r>
              <a:t>MSE = 平均(e²)</a:t>
            </a:r>
          </a:p>
          <a:p xmlns:a="http://schemas.openxmlformats.org/drawingml/2006/main">
            <a:pPr>
              <a:defRPr sz="1300">
                <a:solidFill>
                  <a:srgbClr val="152139"/>
                </a:solidFill>
                <a:latin typeface="Microsoft YaHei"/>
              </a:defRPr>
            </a:pPr>
            <a:r>
              <a:t>大偏差被更重惩罚</a:t>
            </a:r>
          </a:p>
          <a:p xmlns:a="http://schemas.openxmlformats.org/drawingml/2006/main">
            <a:pPr>
              <a:defRPr sz="1300">
                <a:solidFill>
                  <a:srgbClr val="152139"/>
                </a:solidFill>
                <a:latin typeface="Microsoft YaHei"/>
              </a:defRPr>
            </a:pPr>
            <a:r>
              <a:t>现场：拖 w、b 看 MSE</a:t>
            </a:r>
          </a:p>
        </p:txBody>
      </p:sp>
      <p:sp>
        <p:nvSpPr>
          <p:cNvPr id="10" name="slide-4-timing">
            <a:extLst xmlns:a="http://schemas.openxmlformats.org/drawingml/2006/main">
              <a:ext uri="{FF2B5EF4-FFF2-40B4-BE49-F238E27FC236}">
                <a16:creationId xmlns:a16="http://schemas.microsoft.com/office/drawing/2014/main" id="{0C9284F5-5A3B-4E3C-862A-370825F86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378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3788D"/>
                </a:solidFill>
                <a:latin typeface="Microsoft YaHei"/>
                <a:ea typeface="Microsoft YaHei"/>
                <a:cs typeface="Microsoft YaHei"/>
              </a:rPr>
              <a:t>02:45 至 04:15    本页 90 秒</a:t>
            </a:r>
          </a:p>
        </p:txBody>
      </p:sp>
      <p:sp>
        <p:nvSpPr>
          <p:cNvPr id="11" name="slide-4-page">
            <a:extLst xmlns:a="http://schemas.openxmlformats.org/drawingml/2006/main">
              <a:ext uri="{FF2B5EF4-FFF2-40B4-BE49-F238E27FC236}">
                <a16:creationId xmlns:a16="http://schemas.microsoft.com/office/drawing/2014/main" id="{CE5B71FB-DEFE-4182-8461-419E505AE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286500"/>
            <a:ext cx="1219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6378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3788D"/>
                </a:solidFill>
                <a:latin typeface="Microsoft YaHei"/>
                <a:ea typeface="Microsoft YaHei"/>
                <a:cs typeface="Microsoft YaHei"/>
              </a:rPr>
              <a:t>04 / 14</a:t>
            </a:r>
          </a:p>
        </p:txBody>
      </p:sp>
    </p:spTree>
    <p:extLst>
      <p:ext uri="{BB962C8B-B14F-4D97-AF65-F5344CB8AC3E}">
        <p14:creationId xmlns:p14="http://schemas.microsoft.com/office/powerpoint/2010/main" val="80134986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5-title">
            <a:extLst xmlns:a="http://schemas.openxmlformats.org/drawingml/2006/main">
              <a:ext uri="{FF2B5EF4-FFF2-40B4-BE49-F238E27FC236}">
                <a16:creationId xmlns:a16="http://schemas.microsoft.com/office/drawing/2014/main" id="{235368BB-4CFF-4AC5-A887-57C3BA7B2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02F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02F52"/>
                </a:solidFill>
                <a:latin typeface="Microsoft YaHei"/>
                <a:ea typeface="Microsoft YaHei"/>
                <a:cs typeface="Microsoft YaHei"/>
              </a:rPr>
              <a:t>梯度下降如何学习</a:t>
            </a:r>
          </a:p>
        </p:txBody>
      </p:sp>
      <p:sp>
        <p:nvSpPr>
          <p:cNvPr id="2" name="slide-5-goal-label">
            <a:extLst xmlns:a="http://schemas.openxmlformats.org/drawingml/2006/main">
              <a:ext uri="{FF2B5EF4-FFF2-40B4-BE49-F238E27FC236}">
                <a16:creationId xmlns:a16="http://schemas.microsoft.com/office/drawing/2014/main" id="{954D0A93-EFAF-44C6-8DA7-25376AA2F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81175"/>
            <a:ext cx="133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87D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87D88"/>
                </a:solidFill>
                <a:latin typeface="Microsoft YaHei"/>
                <a:ea typeface="Microsoft YaHei"/>
                <a:cs typeface="Microsoft YaHei"/>
              </a:rPr>
              <a:t>本页目标</a:t>
            </a:r>
          </a:p>
        </p:txBody>
      </p:sp>
      <p:sp>
        <p:nvSpPr>
          <p:cNvPr id="3" name="slide-5-goal">
            <a:extLst xmlns:a="http://schemas.openxmlformats.org/drawingml/2006/main">
              <a:ext uri="{FF2B5EF4-FFF2-40B4-BE49-F238E27FC236}">
                <a16:creationId xmlns:a16="http://schemas.microsoft.com/office/drawing/2014/main" id="{4899FF36-6914-44FE-ADB0-6CF75203C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1733550"/>
            <a:ext cx="93916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63E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E57"/>
                </a:solidFill>
                <a:latin typeface="Microsoft YaHei"/>
                <a:ea typeface="Microsoft YaHei"/>
                <a:cs typeface="Microsoft YaHei"/>
              </a:rPr>
              <a:t>理解梯度下降的方向、步长与反复更新过程。</a:t>
            </a:r>
          </a:p>
        </p:txBody>
      </p:sp>
      <p:sp>
        <p:nvSpPr>
          <p:cNvPr id="4" name="slide-5-points-label">
            <a:extLst xmlns:a="http://schemas.openxmlformats.org/drawingml/2006/main">
              <a:ext uri="{FF2B5EF4-FFF2-40B4-BE49-F238E27FC236}">
                <a16:creationId xmlns:a16="http://schemas.microsoft.com/office/drawing/2014/main" id="{54A36044-FB39-48A1-A119-34D90DC72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647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87D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87D88"/>
                </a:solidFill>
                <a:latin typeface="Microsoft YaHei"/>
                <a:ea typeface="Microsoft YaHei"/>
                <a:cs typeface="Microsoft YaHei"/>
              </a:rPr>
              <a:t>讲述顺序</a:t>
            </a:r>
          </a:p>
        </p:txBody>
      </p:sp>
      <p:sp>
        <p:nvSpPr>
          <p:cNvPr id="5" name="slide-5-point-1">
            <a:extLst xmlns:a="http://schemas.openxmlformats.org/drawingml/2006/main">
              <a:ext uri="{FF2B5EF4-FFF2-40B4-BE49-F238E27FC236}">
                <a16:creationId xmlns:a16="http://schemas.microsoft.com/office/drawing/2014/main" id="{2DC35501-F89C-4D9B-BA6A-05A088FA9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6715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63E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E57"/>
                </a:solidFill>
                <a:latin typeface="Microsoft YaHei"/>
                <a:ea typeface="Microsoft YaHei"/>
                <a:cs typeface="Microsoft YaHei"/>
              </a:rPr>
              <a:t>1. 把损失想象成地形高度，参数决定当前位置</a:t>
            </a:r>
          </a:p>
        </p:txBody>
      </p:sp>
      <p:sp>
        <p:nvSpPr>
          <p:cNvPr id="6" name="slide-5-point-2">
            <a:extLst xmlns:a="http://schemas.openxmlformats.org/drawingml/2006/main">
              <a:ext uri="{FF2B5EF4-FFF2-40B4-BE49-F238E27FC236}">
                <a16:creationId xmlns:a16="http://schemas.microsoft.com/office/drawing/2014/main" id="{182FB50C-FB46-4387-937C-FA4B9F065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67125"/>
            <a:ext cx="6715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63E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E57"/>
                </a:solidFill>
                <a:latin typeface="Microsoft YaHei"/>
                <a:ea typeface="Microsoft YaHei"/>
                <a:cs typeface="Microsoft YaHei"/>
              </a:rPr>
              <a:t>2. 沿负梯度方向更新，学习率控制每次走多远</a:t>
            </a:r>
          </a:p>
        </p:txBody>
      </p:sp>
      <p:sp>
        <p:nvSpPr>
          <p:cNvPr id="7" name="slide-5-point-3">
            <a:extLst xmlns:a="http://schemas.openxmlformats.org/drawingml/2006/main">
              <a:ext uri="{FF2B5EF4-FFF2-40B4-BE49-F238E27FC236}">
                <a16:creationId xmlns:a16="http://schemas.microsoft.com/office/drawing/2014/main" id="{19E48925-9FDA-41F2-AF59-CAD02DCBA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6715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63E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E57"/>
                </a:solidFill>
                <a:latin typeface="Microsoft YaHei"/>
                <a:ea typeface="Microsoft YaHei"/>
                <a:cs typeface="Microsoft YaHei"/>
              </a:rPr>
              <a:t>3. 对比合适和过大的学习率；区分模型与求解方法</a:t>
            </a:r>
          </a:p>
        </p:txBody>
      </p:sp>
      <p:sp>
        <p:nvSpPr>
          <p:cNvPr id="8" name="slide-5-visual-label">
            <a:extLst xmlns:a="http://schemas.openxmlformats.org/drawingml/2006/main">
              <a:ext uri="{FF2B5EF4-FFF2-40B4-BE49-F238E27FC236}">
                <a16:creationId xmlns:a16="http://schemas.microsoft.com/office/drawing/2014/main" id="{3693143C-49B8-4BD8-BCFF-1DDD462C1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686050"/>
            <a:ext cx="3409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87D88"/>
                </a:solidFill>
                <a:latin typeface="Microsoft YaHei"/>
                <a:ea typeface="Microsoft YaHei"/>
                <a:cs typeface="Microsoft YaHei"/>
              </a:defRPr>
            </a:pPr>
            <a:r>
              <a:t>本页要点</a:t>
            </a:r>
          </a:p>
        </p:txBody>
      </p:sp>
      <p:sp>
        <p:nvSpPr>
          <p:cNvPr id="9" name="slide-5-visual">
            <a:extLst xmlns:a="http://schemas.openxmlformats.org/drawingml/2006/main">
              <a:ext uri="{FF2B5EF4-FFF2-40B4-BE49-F238E27FC236}">
                <a16:creationId xmlns:a16="http://schemas.microsoft.com/office/drawing/2014/main" id="{BE79F53B-ACCB-4B57-8770-08BD959A6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62300"/>
            <a:ext cx="34099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00" b="0">
                <a:solidFill>
                  <a:srgbClr val="152139"/>
                </a:solidFill>
                <a:latin typeface="Microsoft YaHei"/>
                <a:ea typeface="Microsoft YaHei"/>
                <a:cs typeface="Microsoft YaHei"/>
              </a:defRPr>
            </a:pPr>
            <a:r>
              <a:t>θ ← θ − α∇J</a:t>
            </a:r>
          </a:p>
          <a:p xmlns:a="http://schemas.openxmlformats.org/drawingml/2006/main">
            <a:pPr>
              <a:defRPr sz="1300">
                <a:solidFill>
                  <a:srgbClr val="152139"/>
                </a:solidFill>
                <a:latin typeface="Microsoft YaHei"/>
              </a:defRPr>
            </a:pPr>
            <a:r>
              <a:t>α 合适：损失下降</a:t>
            </a:r>
          </a:p>
          <a:p xmlns:a="http://schemas.openxmlformats.org/drawingml/2006/main">
            <a:pPr>
              <a:defRPr sz="1300">
                <a:solidFill>
                  <a:srgbClr val="152139"/>
                </a:solidFill>
                <a:latin typeface="Microsoft YaHei"/>
              </a:defRPr>
            </a:pPr>
            <a:r>
              <a:t>α 过大：振荡或发散</a:t>
            </a:r>
          </a:p>
          <a:p xmlns:a="http://schemas.openxmlformats.org/drawingml/2006/main">
            <a:pPr>
              <a:defRPr sz="1300">
                <a:solidFill>
                  <a:srgbClr val="152139"/>
                </a:solidFill>
                <a:latin typeface="Microsoft YaHei"/>
              </a:defRPr>
            </a:pPr>
            <a:r>
              <a:t>模型 ≠ 求解方法</a:t>
            </a:r>
          </a:p>
        </p:txBody>
      </p:sp>
      <p:sp>
        <p:nvSpPr>
          <p:cNvPr id="10" name="slide-5-timing">
            <a:extLst xmlns:a="http://schemas.openxmlformats.org/drawingml/2006/main">
              <a:ext uri="{FF2B5EF4-FFF2-40B4-BE49-F238E27FC236}">
                <a16:creationId xmlns:a16="http://schemas.microsoft.com/office/drawing/2014/main" id="{5031D160-D50E-4000-B59D-56F91C794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378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3788D"/>
                </a:solidFill>
                <a:latin typeface="Microsoft YaHei"/>
                <a:ea typeface="Microsoft YaHei"/>
                <a:cs typeface="Microsoft YaHei"/>
              </a:rPr>
              <a:t>04:15 至 05:55    本页 100 秒</a:t>
            </a:r>
          </a:p>
        </p:txBody>
      </p:sp>
      <p:sp>
        <p:nvSpPr>
          <p:cNvPr id="11" name="slide-5-page">
            <a:extLst xmlns:a="http://schemas.openxmlformats.org/drawingml/2006/main">
              <a:ext uri="{FF2B5EF4-FFF2-40B4-BE49-F238E27FC236}">
                <a16:creationId xmlns:a16="http://schemas.microsoft.com/office/drawing/2014/main" id="{0BF2399D-A24E-4411-BE42-C4677A721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286500"/>
            <a:ext cx="1219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6378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3788D"/>
                </a:solidFill>
                <a:latin typeface="Microsoft YaHei"/>
                <a:ea typeface="Microsoft YaHei"/>
                <a:cs typeface="Microsoft YaHei"/>
              </a:rPr>
              <a:t>05 / 14</a:t>
            </a:r>
          </a:p>
        </p:txBody>
      </p:sp>
    </p:spTree>
    <p:extLst>
      <p:ext uri="{BB962C8B-B14F-4D97-AF65-F5344CB8AC3E}">
        <p14:creationId xmlns:p14="http://schemas.microsoft.com/office/powerpoint/2010/main" val="17888532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6-title">
            <a:extLst xmlns:a="http://schemas.openxmlformats.org/drawingml/2006/main">
              <a:ext uri="{FF2B5EF4-FFF2-40B4-BE49-F238E27FC236}">
                <a16:creationId xmlns:a16="http://schemas.microsoft.com/office/drawing/2014/main" id="{F9A9939F-250F-46F5-B3A6-972C4CE54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02F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02F52"/>
                </a:solidFill>
                <a:latin typeface="Microsoft YaHei"/>
                <a:ea typeface="Microsoft YaHei"/>
                <a:cs typeface="Microsoft YaHei"/>
              </a:rPr>
              <a:t>从分数走向分类</a:t>
            </a:r>
          </a:p>
        </p:txBody>
      </p:sp>
      <p:sp>
        <p:nvSpPr>
          <p:cNvPr id="2" name="slide-6-goal-label">
            <a:extLst xmlns:a="http://schemas.openxmlformats.org/drawingml/2006/main">
              <a:ext uri="{FF2B5EF4-FFF2-40B4-BE49-F238E27FC236}">
                <a16:creationId xmlns:a16="http://schemas.microsoft.com/office/drawing/2014/main" id="{47A7525D-0A0F-45CE-8498-71CCF12B4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81175"/>
            <a:ext cx="133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87D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87D88"/>
                </a:solidFill>
                <a:latin typeface="Microsoft YaHei"/>
                <a:ea typeface="Microsoft YaHei"/>
                <a:cs typeface="Microsoft YaHei"/>
              </a:rPr>
              <a:t>本页目标</a:t>
            </a:r>
          </a:p>
        </p:txBody>
      </p:sp>
      <p:sp>
        <p:nvSpPr>
          <p:cNvPr id="3" name="slide-6-goal">
            <a:extLst xmlns:a="http://schemas.openxmlformats.org/drawingml/2006/main">
              <a:ext uri="{FF2B5EF4-FFF2-40B4-BE49-F238E27FC236}">
                <a16:creationId xmlns:a16="http://schemas.microsoft.com/office/drawing/2014/main" id="{7B5EC82D-1E93-44B8-89A6-ABCF25EE2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1733550"/>
            <a:ext cx="93916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63E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E57"/>
                </a:solidFill>
                <a:latin typeface="Microsoft YaHei"/>
                <a:ea typeface="Microsoft YaHei"/>
                <a:cs typeface="Microsoft YaHei"/>
              </a:rPr>
              <a:t>说明为什么二分类需要与数值回归不同的输出和训练方式。</a:t>
            </a:r>
          </a:p>
        </p:txBody>
      </p:sp>
      <p:sp>
        <p:nvSpPr>
          <p:cNvPr id="4" name="slide-6-points-label">
            <a:extLst xmlns:a="http://schemas.openxmlformats.org/drawingml/2006/main">
              <a:ext uri="{FF2B5EF4-FFF2-40B4-BE49-F238E27FC236}">
                <a16:creationId xmlns:a16="http://schemas.microsoft.com/office/drawing/2014/main" id="{DF0A19AD-279D-492A-8621-3DD59490A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647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87D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87D88"/>
                </a:solidFill>
                <a:latin typeface="Microsoft YaHei"/>
                <a:ea typeface="Microsoft YaHei"/>
                <a:cs typeface="Microsoft YaHei"/>
              </a:rPr>
              <a:t>讲述顺序</a:t>
            </a:r>
          </a:p>
        </p:txBody>
      </p:sp>
      <p:sp>
        <p:nvSpPr>
          <p:cNvPr id="5" name="slide-6-point-1">
            <a:extLst xmlns:a="http://schemas.openxmlformats.org/drawingml/2006/main">
              <a:ext uri="{FF2B5EF4-FFF2-40B4-BE49-F238E27FC236}">
                <a16:creationId xmlns:a16="http://schemas.microsoft.com/office/drawing/2014/main" id="{678A4235-8E3D-4442-B329-46A2B457B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6715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63E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E57"/>
                </a:solidFill>
                <a:latin typeface="Microsoft YaHei"/>
                <a:ea typeface="Microsoft YaHei"/>
                <a:cs typeface="Microsoft YaHei"/>
              </a:rPr>
              <a:t>1. 将标签换成通过1、未通过0，明确正类定义</a:t>
            </a:r>
          </a:p>
        </p:txBody>
      </p:sp>
      <p:sp>
        <p:nvSpPr>
          <p:cNvPr id="6" name="slide-6-point-2">
            <a:extLst xmlns:a="http://schemas.openxmlformats.org/drawingml/2006/main">
              <a:ext uri="{FF2B5EF4-FFF2-40B4-BE49-F238E27FC236}">
                <a16:creationId xmlns:a16="http://schemas.microsoft.com/office/drawing/2014/main" id="{A0A9586F-216C-418F-839E-4DB2082D8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67125"/>
            <a:ext cx="6715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63E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E57"/>
                </a:solidFill>
                <a:latin typeface="Microsoft YaHei"/>
                <a:ea typeface="Microsoft YaHei"/>
                <a:cs typeface="Microsoft YaHei"/>
              </a:rPr>
              <a:t>2. 无约束直线输出可能小于0或大于1</a:t>
            </a:r>
          </a:p>
        </p:txBody>
      </p:sp>
      <p:sp>
        <p:nvSpPr>
          <p:cNvPr id="7" name="slide-6-point-3">
            <a:extLst xmlns:a="http://schemas.openxmlformats.org/drawingml/2006/main">
              <a:ext uri="{FF2B5EF4-FFF2-40B4-BE49-F238E27FC236}">
                <a16:creationId xmlns:a16="http://schemas.microsoft.com/office/drawing/2014/main" id="{EB229934-5554-45E0-B4F1-883A210EC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6715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63E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E57"/>
                </a:solidFill>
                <a:latin typeface="Microsoft YaHei"/>
                <a:ea typeface="Microsoft YaHei"/>
                <a:cs typeface="Microsoft YaHei"/>
              </a:rPr>
              <a:t>3. 逻辑回归直接建模类别概率，再通过阈值作决定</a:t>
            </a:r>
          </a:p>
        </p:txBody>
      </p:sp>
      <p:sp>
        <p:nvSpPr>
          <p:cNvPr id="8" name="slide-6-visual-label">
            <a:extLst xmlns:a="http://schemas.openxmlformats.org/drawingml/2006/main">
              <a:ext uri="{FF2B5EF4-FFF2-40B4-BE49-F238E27FC236}">
                <a16:creationId xmlns:a16="http://schemas.microsoft.com/office/drawing/2014/main" id="{27F58A85-7BAD-4133-AB37-48EF1DD72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686050"/>
            <a:ext cx="3409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87D88"/>
                </a:solidFill>
                <a:latin typeface="Microsoft YaHei"/>
                <a:ea typeface="Microsoft YaHei"/>
                <a:cs typeface="Microsoft YaHei"/>
              </a:defRPr>
            </a:pPr>
            <a:r>
              <a:t>本页要点</a:t>
            </a:r>
          </a:p>
        </p:txBody>
      </p:sp>
      <p:sp>
        <p:nvSpPr>
          <p:cNvPr id="9" name="slide-6-visual">
            <a:extLst xmlns:a="http://schemas.openxmlformats.org/drawingml/2006/main">
              <a:ext uri="{FF2B5EF4-FFF2-40B4-BE49-F238E27FC236}">
                <a16:creationId xmlns:a16="http://schemas.microsoft.com/office/drawing/2014/main" id="{5F2AFA5C-5B2D-47A0-8D9B-BC4B9FD0D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62300"/>
            <a:ext cx="34099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00" b="0">
                <a:solidFill>
                  <a:srgbClr val="152139"/>
                </a:solidFill>
                <a:latin typeface="Microsoft YaHei"/>
                <a:ea typeface="Microsoft YaHei"/>
                <a:cs typeface="Microsoft YaHei"/>
              </a:defRPr>
            </a:pPr>
            <a:r>
              <a:t>标签改为 0 / 1</a:t>
            </a:r>
          </a:p>
          <a:p xmlns:a="http://schemas.openxmlformats.org/drawingml/2006/main">
            <a:pPr>
              <a:defRPr sz="1300">
                <a:solidFill>
                  <a:srgbClr val="152139"/>
                </a:solidFill>
                <a:latin typeface="Microsoft YaHei"/>
              </a:defRPr>
            </a:pPr>
            <a:r>
              <a:t>直线可能 &lt;0 或 &gt;1</a:t>
            </a:r>
          </a:p>
          <a:p xmlns:a="http://schemas.openxmlformats.org/drawingml/2006/main">
            <a:pPr>
              <a:defRPr sz="1300">
                <a:solidFill>
                  <a:srgbClr val="152139"/>
                </a:solidFill>
                <a:latin typeface="Microsoft YaHei"/>
              </a:defRPr>
            </a:pPr>
            <a:r>
              <a:t>逻辑回归：先概率</a:t>
            </a:r>
          </a:p>
          <a:p xmlns:a="http://schemas.openxmlformats.org/drawingml/2006/main">
            <a:pPr>
              <a:defRPr sz="1300">
                <a:solidFill>
                  <a:srgbClr val="152139"/>
                </a:solidFill>
                <a:latin typeface="Microsoft YaHei"/>
              </a:defRPr>
            </a:pPr>
            <a:r>
              <a:t>再按阈值得到类别</a:t>
            </a:r>
          </a:p>
        </p:txBody>
      </p:sp>
      <p:sp>
        <p:nvSpPr>
          <p:cNvPr id="10" name="slide-6-timing">
            <a:extLst xmlns:a="http://schemas.openxmlformats.org/drawingml/2006/main">
              <a:ext uri="{FF2B5EF4-FFF2-40B4-BE49-F238E27FC236}">
                <a16:creationId xmlns:a16="http://schemas.microsoft.com/office/drawing/2014/main" id="{FD4E9999-C1DA-4E67-9849-8B62184A9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378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3788D"/>
                </a:solidFill>
                <a:latin typeface="Microsoft YaHei"/>
                <a:ea typeface="Microsoft YaHei"/>
                <a:cs typeface="Microsoft YaHei"/>
              </a:rPr>
              <a:t>05:55 至 06:45    本页 50 秒</a:t>
            </a:r>
          </a:p>
        </p:txBody>
      </p:sp>
      <p:sp>
        <p:nvSpPr>
          <p:cNvPr id="11" name="slide-6-page">
            <a:extLst xmlns:a="http://schemas.openxmlformats.org/drawingml/2006/main">
              <a:ext uri="{FF2B5EF4-FFF2-40B4-BE49-F238E27FC236}">
                <a16:creationId xmlns:a16="http://schemas.microsoft.com/office/drawing/2014/main" id="{1D77F37C-9A71-4C30-8545-B63AB054D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286500"/>
            <a:ext cx="1219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6378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3788D"/>
                </a:solidFill>
                <a:latin typeface="Microsoft YaHei"/>
                <a:ea typeface="Microsoft YaHei"/>
                <a:cs typeface="Microsoft YaHei"/>
              </a:rPr>
              <a:t>06 / 14</a:t>
            </a:r>
          </a:p>
        </p:txBody>
      </p:sp>
    </p:spTree>
    <p:extLst>
      <p:ext uri="{BB962C8B-B14F-4D97-AF65-F5344CB8AC3E}">
        <p14:creationId xmlns:p14="http://schemas.microsoft.com/office/powerpoint/2010/main" val="189177975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7-title">
            <a:extLst xmlns:a="http://schemas.openxmlformats.org/drawingml/2006/main">
              <a:ext uri="{FF2B5EF4-FFF2-40B4-BE49-F238E27FC236}">
                <a16:creationId xmlns:a16="http://schemas.microsoft.com/office/drawing/2014/main" id="{BE9D51FD-038D-448F-B621-B1E70E77C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02F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02F52"/>
                </a:solidFill>
                <a:latin typeface="Microsoft YaHei"/>
                <a:ea typeface="Microsoft YaHei"/>
                <a:cs typeface="Microsoft YaHei"/>
              </a:rPr>
              <a:t>Sigmoid与概率</a:t>
            </a:r>
          </a:p>
        </p:txBody>
      </p:sp>
      <p:sp>
        <p:nvSpPr>
          <p:cNvPr id="2" name="slide-7-goal-label">
            <a:extLst xmlns:a="http://schemas.openxmlformats.org/drawingml/2006/main">
              <a:ext uri="{FF2B5EF4-FFF2-40B4-BE49-F238E27FC236}">
                <a16:creationId xmlns:a16="http://schemas.microsoft.com/office/drawing/2014/main" id="{A0611592-E202-4F51-9D8A-0C2F36867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81175"/>
            <a:ext cx="133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87D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87D88"/>
                </a:solidFill>
                <a:latin typeface="Microsoft YaHei"/>
                <a:ea typeface="Microsoft YaHei"/>
                <a:cs typeface="Microsoft YaHei"/>
              </a:rPr>
              <a:t>本页目标</a:t>
            </a:r>
          </a:p>
        </p:txBody>
      </p:sp>
      <p:sp>
        <p:nvSpPr>
          <p:cNvPr id="3" name="slide-7-goal">
            <a:extLst xmlns:a="http://schemas.openxmlformats.org/drawingml/2006/main">
              <a:ext uri="{FF2B5EF4-FFF2-40B4-BE49-F238E27FC236}">
                <a16:creationId xmlns:a16="http://schemas.microsoft.com/office/drawing/2014/main" id="{BE19F586-839E-46CC-9B53-E8DB3C973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1733550"/>
            <a:ext cx="93916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63E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E57"/>
                </a:solidFill>
                <a:latin typeface="Microsoft YaHei"/>
                <a:ea typeface="Microsoft YaHei"/>
                <a:cs typeface="Microsoft YaHei"/>
              </a:rPr>
              <a:t>看懂线性分数到概率的S形映射，并区分概率与最终类别。</a:t>
            </a:r>
          </a:p>
        </p:txBody>
      </p:sp>
      <p:sp>
        <p:nvSpPr>
          <p:cNvPr id="4" name="slide-7-points-label">
            <a:extLst xmlns:a="http://schemas.openxmlformats.org/drawingml/2006/main">
              <a:ext uri="{FF2B5EF4-FFF2-40B4-BE49-F238E27FC236}">
                <a16:creationId xmlns:a16="http://schemas.microsoft.com/office/drawing/2014/main" id="{97595023-3C87-4CEB-83B3-6D43E472C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647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87D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87D88"/>
                </a:solidFill>
                <a:latin typeface="Microsoft YaHei"/>
                <a:ea typeface="Microsoft YaHei"/>
                <a:cs typeface="Microsoft YaHei"/>
              </a:rPr>
              <a:t>讲述顺序</a:t>
            </a:r>
          </a:p>
        </p:txBody>
      </p:sp>
      <p:sp>
        <p:nvSpPr>
          <p:cNvPr id="5" name="slide-7-point-1">
            <a:extLst xmlns:a="http://schemas.openxmlformats.org/drawingml/2006/main">
              <a:ext uri="{FF2B5EF4-FFF2-40B4-BE49-F238E27FC236}">
                <a16:creationId xmlns:a16="http://schemas.microsoft.com/office/drawing/2014/main" id="{6BEF9813-8859-457C-BAED-7B10029AB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6715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63E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E57"/>
                </a:solidFill>
                <a:latin typeface="Microsoft YaHei"/>
                <a:ea typeface="Microsoft YaHei"/>
                <a:cs typeface="Microsoft YaHei"/>
              </a:rPr>
              <a:t>1. 先计算线性分数z，再用Sigmoid映射为概率p</a:t>
            </a:r>
          </a:p>
        </p:txBody>
      </p:sp>
      <p:sp>
        <p:nvSpPr>
          <p:cNvPr id="6" name="slide-7-point-2">
            <a:extLst xmlns:a="http://schemas.openxmlformats.org/drawingml/2006/main">
              <a:ext uri="{FF2B5EF4-FFF2-40B4-BE49-F238E27FC236}">
                <a16:creationId xmlns:a16="http://schemas.microsoft.com/office/drawing/2014/main" id="{7DB01796-7C1E-4942-BABC-6157D8EAA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67125"/>
            <a:ext cx="6715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63E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E57"/>
                </a:solidFill>
                <a:latin typeface="Microsoft YaHei"/>
                <a:ea typeface="Microsoft YaHei"/>
                <a:cs typeface="Microsoft YaHei"/>
              </a:rPr>
              <a:t>2. z为0时p为0.5；正负方向分别靠近1和0</a:t>
            </a:r>
          </a:p>
        </p:txBody>
      </p:sp>
      <p:sp>
        <p:nvSpPr>
          <p:cNvPr id="7" name="slide-7-point-3">
            <a:extLst xmlns:a="http://schemas.openxmlformats.org/drawingml/2006/main">
              <a:ext uri="{FF2B5EF4-FFF2-40B4-BE49-F238E27FC236}">
                <a16:creationId xmlns:a16="http://schemas.microsoft.com/office/drawing/2014/main" id="{F58BF455-6881-4B57-9448-5928C3532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6715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63E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E57"/>
                </a:solidFill>
                <a:latin typeface="Microsoft YaHei"/>
                <a:ea typeface="Microsoft YaHei"/>
                <a:cs typeface="Microsoft YaHei"/>
              </a:rPr>
              <a:t>3. 概率是模型估计，是否可信仍需要检验</a:t>
            </a:r>
          </a:p>
        </p:txBody>
      </p:sp>
      <p:sp>
        <p:nvSpPr>
          <p:cNvPr id="8" name="slide-7-visual-label">
            <a:extLst xmlns:a="http://schemas.openxmlformats.org/drawingml/2006/main">
              <a:ext uri="{FF2B5EF4-FFF2-40B4-BE49-F238E27FC236}">
                <a16:creationId xmlns:a16="http://schemas.microsoft.com/office/drawing/2014/main" id="{BCAE8E06-9B14-47FE-8A03-F49E82A85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686050"/>
            <a:ext cx="3409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87D88"/>
                </a:solidFill>
                <a:latin typeface="Microsoft YaHei"/>
                <a:ea typeface="Microsoft YaHei"/>
                <a:cs typeface="Microsoft YaHei"/>
              </a:defRPr>
            </a:pPr>
            <a:r>
              <a:t>本页要点</a:t>
            </a:r>
          </a:p>
        </p:txBody>
      </p:sp>
      <p:sp>
        <p:nvSpPr>
          <p:cNvPr id="9" name="slide-7-visual">
            <a:extLst xmlns:a="http://schemas.openxmlformats.org/drawingml/2006/main">
              <a:ext uri="{FF2B5EF4-FFF2-40B4-BE49-F238E27FC236}">
                <a16:creationId xmlns:a16="http://schemas.microsoft.com/office/drawing/2014/main" id="{254CE227-EF74-4909-A579-ECA51B6D8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62300"/>
            <a:ext cx="34099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00" b="0">
                <a:solidFill>
                  <a:srgbClr val="152139"/>
                </a:solidFill>
                <a:latin typeface="Microsoft YaHei"/>
                <a:ea typeface="Microsoft YaHei"/>
                <a:cs typeface="Microsoft YaHei"/>
              </a:defRPr>
            </a:pPr>
            <a:r>
              <a:t>z = wx + b</a:t>
            </a:r>
          </a:p>
          <a:p xmlns:a="http://schemas.openxmlformats.org/drawingml/2006/main">
            <a:pPr>
              <a:defRPr sz="1300">
                <a:solidFill>
                  <a:srgbClr val="152139"/>
                </a:solidFill>
                <a:latin typeface="Microsoft YaHei"/>
              </a:defRPr>
            </a:pPr>
            <a:r>
              <a:t>p = σ(z)</a:t>
            </a:r>
          </a:p>
          <a:p xmlns:a="http://schemas.openxmlformats.org/drawingml/2006/main">
            <a:pPr>
              <a:defRPr sz="1300">
                <a:solidFill>
                  <a:srgbClr val="152139"/>
                </a:solidFill>
                <a:latin typeface="Microsoft YaHei"/>
              </a:defRPr>
            </a:pPr>
            <a:r>
              <a:t>z = 0 → p = 0.5</a:t>
            </a:r>
          </a:p>
          <a:p xmlns:a="http://schemas.openxmlformats.org/drawingml/2006/main">
            <a:pPr>
              <a:defRPr sz="1300">
                <a:solidFill>
                  <a:srgbClr val="152139"/>
                </a:solidFill>
                <a:latin typeface="Microsoft YaHei"/>
              </a:defRPr>
            </a:pPr>
            <a:r>
              <a:t>0.8 不是 80 分</a:t>
            </a:r>
          </a:p>
        </p:txBody>
      </p:sp>
      <p:sp>
        <p:nvSpPr>
          <p:cNvPr id="10" name="slide-7-timing">
            <a:extLst xmlns:a="http://schemas.openxmlformats.org/drawingml/2006/main">
              <a:ext uri="{FF2B5EF4-FFF2-40B4-BE49-F238E27FC236}">
                <a16:creationId xmlns:a16="http://schemas.microsoft.com/office/drawing/2014/main" id="{0DD2F300-115B-48E0-8B58-1C3C0B007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378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3788D"/>
                </a:solidFill>
                <a:latin typeface="Microsoft YaHei"/>
                <a:ea typeface="Microsoft YaHei"/>
                <a:cs typeface="Microsoft YaHei"/>
              </a:rPr>
              <a:t>06:45 至 08:15    本页 90 秒</a:t>
            </a:r>
          </a:p>
        </p:txBody>
      </p:sp>
      <p:sp>
        <p:nvSpPr>
          <p:cNvPr id="11" name="slide-7-page">
            <a:extLst xmlns:a="http://schemas.openxmlformats.org/drawingml/2006/main">
              <a:ext uri="{FF2B5EF4-FFF2-40B4-BE49-F238E27FC236}">
                <a16:creationId xmlns:a16="http://schemas.microsoft.com/office/drawing/2014/main" id="{99B46360-1019-4445-85E0-F764892EF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286500"/>
            <a:ext cx="1219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6378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3788D"/>
                </a:solidFill>
                <a:latin typeface="Microsoft YaHei"/>
                <a:ea typeface="Microsoft YaHei"/>
                <a:cs typeface="Microsoft YaHei"/>
              </a:rPr>
              <a:t>07 / 14</a:t>
            </a:r>
          </a:p>
        </p:txBody>
      </p:sp>
    </p:spTree>
    <p:extLst>
      <p:ext uri="{BB962C8B-B14F-4D97-AF65-F5344CB8AC3E}">
        <p14:creationId xmlns:p14="http://schemas.microsoft.com/office/powerpoint/2010/main" val="119731647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8-title">
            <a:extLst xmlns:a="http://schemas.openxmlformats.org/drawingml/2006/main">
              <a:ext uri="{FF2B5EF4-FFF2-40B4-BE49-F238E27FC236}">
                <a16:creationId xmlns:a16="http://schemas.microsoft.com/office/drawing/2014/main" id="{43C82D5F-8C9B-4755-BD52-D74B75FFD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02F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02F52"/>
                </a:solidFill>
                <a:latin typeface="Microsoft YaHei"/>
                <a:ea typeface="Microsoft YaHei"/>
                <a:cs typeface="Microsoft YaHei"/>
              </a:rPr>
              <a:t>交叉熵如何训练</a:t>
            </a:r>
          </a:p>
        </p:txBody>
      </p:sp>
      <p:sp>
        <p:nvSpPr>
          <p:cNvPr id="2" name="slide-8-goal-label">
            <a:extLst xmlns:a="http://schemas.openxmlformats.org/drawingml/2006/main">
              <a:ext uri="{FF2B5EF4-FFF2-40B4-BE49-F238E27FC236}">
                <a16:creationId xmlns:a16="http://schemas.microsoft.com/office/drawing/2014/main" id="{750B451E-9624-401A-B9F5-7B70C4DAF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81175"/>
            <a:ext cx="133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87D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87D88"/>
                </a:solidFill>
                <a:latin typeface="Microsoft YaHei"/>
                <a:ea typeface="Microsoft YaHei"/>
                <a:cs typeface="Microsoft YaHei"/>
              </a:rPr>
              <a:t>本页目标</a:t>
            </a:r>
          </a:p>
        </p:txBody>
      </p:sp>
      <p:sp>
        <p:nvSpPr>
          <p:cNvPr id="3" name="slide-8-goal">
            <a:extLst xmlns:a="http://schemas.openxmlformats.org/drawingml/2006/main">
              <a:ext uri="{FF2B5EF4-FFF2-40B4-BE49-F238E27FC236}">
                <a16:creationId xmlns:a16="http://schemas.microsoft.com/office/drawing/2014/main" id="{EF4DDC47-3B0C-480A-B29E-87D059CA5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1733550"/>
            <a:ext cx="93916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63E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E57"/>
                </a:solidFill>
                <a:latin typeface="Microsoft YaHei"/>
                <a:ea typeface="Microsoft YaHei"/>
                <a:cs typeface="Microsoft YaHei"/>
              </a:rPr>
              <a:t>用“为真实结果分配概率”的视角理解二元交叉熵。</a:t>
            </a:r>
          </a:p>
        </p:txBody>
      </p:sp>
      <p:sp>
        <p:nvSpPr>
          <p:cNvPr id="4" name="slide-8-points-label">
            <a:extLst xmlns:a="http://schemas.openxmlformats.org/drawingml/2006/main">
              <a:ext uri="{FF2B5EF4-FFF2-40B4-BE49-F238E27FC236}">
                <a16:creationId xmlns:a16="http://schemas.microsoft.com/office/drawing/2014/main" id="{78E9BC87-7192-40DA-81F4-896AC8883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647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87D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87D88"/>
                </a:solidFill>
                <a:latin typeface="Microsoft YaHei"/>
                <a:ea typeface="Microsoft YaHei"/>
                <a:cs typeface="Microsoft YaHei"/>
              </a:rPr>
              <a:t>讲述顺序</a:t>
            </a:r>
          </a:p>
        </p:txBody>
      </p:sp>
      <p:sp>
        <p:nvSpPr>
          <p:cNvPr id="5" name="slide-8-point-1">
            <a:extLst xmlns:a="http://schemas.openxmlformats.org/drawingml/2006/main">
              <a:ext uri="{FF2B5EF4-FFF2-40B4-BE49-F238E27FC236}">
                <a16:creationId xmlns:a16="http://schemas.microsoft.com/office/drawing/2014/main" id="{19A15AFF-AE29-43AA-83C1-692CF99B3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6715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63E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E57"/>
                </a:solidFill>
                <a:latin typeface="Microsoft YaHei"/>
                <a:ea typeface="Microsoft YaHei"/>
                <a:cs typeface="Microsoft YaHei"/>
              </a:rPr>
              <a:t>1. 真实标签为1时，鼓励预测概率接近1；为0时反过来</a:t>
            </a:r>
          </a:p>
        </p:txBody>
      </p:sp>
      <p:sp>
        <p:nvSpPr>
          <p:cNvPr id="6" name="slide-8-point-2">
            <a:extLst xmlns:a="http://schemas.openxmlformats.org/drawingml/2006/main">
              <a:ext uri="{FF2B5EF4-FFF2-40B4-BE49-F238E27FC236}">
                <a16:creationId xmlns:a16="http://schemas.microsoft.com/office/drawing/2014/main" id="{0A6B654C-A37D-4CF1-8657-4346EE041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67125"/>
            <a:ext cx="6715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63E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E57"/>
                </a:solidFill>
                <a:latin typeface="Microsoft YaHei"/>
                <a:ea typeface="Microsoft YaHei"/>
                <a:cs typeface="Microsoft YaHei"/>
              </a:rPr>
              <a:t>2. 对自信却错误的预测给予较大惩罚</a:t>
            </a:r>
          </a:p>
        </p:txBody>
      </p:sp>
      <p:sp>
        <p:nvSpPr>
          <p:cNvPr id="7" name="slide-8-point-3">
            <a:extLst xmlns:a="http://schemas.openxmlformats.org/drawingml/2006/main">
              <a:ext uri="{FF2B5EF4-FFF2-40B4-BE49-F238E27FC236}">
                <a16:creationId xmlns:a16="http://schemas.microsoft.com/office/drawing/2014/main" id="{8987CB66-4D3B-4E83-B79B-30976622C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6715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63E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E57"/>
                </a:solidFill>
                <a:latin typeface="Microsoft YaHei"/>
                <a:ea typeface="Microsoft YaHei"/>
                <a:cs typeface="Microsoft YaHei"/>
              </a:rPr>
              <a:t>3. 以二元交叉熵为目标更新参数，可加入正则化</a:t>
            </a:r>
          </a:p>
        </p:txBody>
      </p:sp>
      <p:sp>
        <p:nvSpPr>
          <p:cNvPr id="8" name="slide-8-visual-label">
            <a:extLst xmlns:a="http://schemas.openxmlformats.org/drawingml/2006/main">
              <a:ext uri="{FF2B5EF4-FFF2-40B4-BE49-F238E27FC236}">
                <a16:creationId xmlns:a16="http://schemas.microsoft.com/office/drawing/2014/main" id="{585CE1D1-BDBC-4509-B313-32308576F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686050"/>
            <a:ext cx="3409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87D88"/>
                </a:solidFill>
                <a:latin typeface="Microsoft YaHei"/>
                <a:ea typeface="Microsoft YaHei"/>
                <a:cs typeface="Microsoft YaHei"/>
              </a:defRPr>
            </a:pPr>
            <a:r>
              <a:t>本页要点</a:t>
            </a:r>
          </a:p>
        </p:txBody>
      </p:sp>
      <p:sp>
        <p:nvSpPr>
          <p:cNvPr id="9" name="slide-8-visual">
            <a:extLst xmlns:a="http://schemas.openxmlformats.org/drawingml/2006/main">
              <a:ext uri="{FF2B5EF4-FFF2-40B4-BE49-F238E27FC236}">
                <a16:creationId xmlns:a16="http://schemas.microsoft.com/office/drawing/2014/main" id="{18CD1061-6DE6-4A7D-94E0-0CB0229A3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62300"/>
            <a:ext cx="34099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00" b="0">
                <a:solidFill>
                  <a:srgbClr val="152139"/>
                </a:solidFill>
                <a:latin typeface="Microsoft YaHei"/>
                <a:ea typeface="Microsoft YaHei"/>
                <a:cs typeface="Microsoft YaHei"/>
              </a:defRPr>
            </a:pPr>
            <a:r>
              <a:t>真为 1：p 靠近 1</a:t>
            </a:r>
          </a:p>
          <a:p xmlns:a="http://schemas.openxmlformats.org/drawingml/2006/main">
            <a:pPr>
              <a:defRPr sz="1300">
                <a:solidFill>
                  <a:srgbClr val="152139"/>
                </a:solidFill>
                <a:latin typeface="Microsoft YaHei"/>
              </a:defRPr>
            </a:pPr>
            <a:r>
              <a:t>真为 0：p 靠近 0</a:t>
            </a:r>
          </a:p>
          <a:p xmlns:a="http://schemas.openxmlformats.org/drawingml/2006/main">
            <a:pPr>
              <a:defRPr sz="1300">
                <a:solidFill>
                  <a:srgbClr val="152139"/>
                </a:solidFill>
                <a:latin typeface="Microsoft YaHei"/>
              </a:defRPr>
            </a:pPr>
            <a:r>
              <a:t>自信地错 → 重罚</a:t>
            </a:r>
          </a:p>
          <a:p xmlns:a="http://schemas.openxmlformats.org/drawingml/2006/main">
            <a:pPr>
              <a:defRPr sz="1300">
                <a:solidFill>
                  <a:srgbClr val="152139"/>
                </a:solidFill>
                <a:latin typeface="Microsoft YaHei"/>
              </a:defRPr>
            </a:pPr>
            <a:r>
              <a:t>阈值不参与训练</a:t>
            </a:r>
          </a:p>
        </p:txBody>
      </p:sp>
      <p:sp>
        <p:nvSpPr>
          <p:cNvPr id="10" name="slide-8-timing">
            <a:extLst xmlns:a="http://schemas.openxmlformats.org/drawingml/2006/main">
              <a:ext uri="{FF2B5EF4-FFF2-40B4-BE49-F238E27FC236}">
                <a16:creationId xmlns:a16="http://schemas.microsoft.com/office/drawing/2014/main" id="{98898ADB-59ED-4BB1-A433-2AAD9FE2E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378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3788D"/>
                </a:solidFill>
                <a:latin typeface="Microsoft YaHei"/>
                <a:ea typeface="Microsoft YaHei"/>
                <a:cs typeface="Microsoft YaHei"/>
              </a:rPr>
              <a:t>08:15 至 09:30    本页 75 秒</a:t>
            </a:r>
          </a:p>
        </p:txBody>
      </p:sp>
      <p:sp>
        <p:nvSpPr>
          <p:cNvPr id="11" name="slide-8-page">
            <a:extLst xmlns:a="http://schemas.openxmlformats.org/drawingml/2006/main">
              <a:ext uri="{FF2B5EF4-FFF2-40B4-BE49-F238E27FC236}">
                <a16:creationId xmlns:a16="http://schemas.microsoft.com/office/drawing/2014/main" id="{D635A57B-902D-4507-B552-655E4464A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286500"/>
            <a:ext cx="1219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6378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3788D"/>
                </a:solidFill>
                <a:latin typeface="Microsoft YaHei"/>
                <a:ea typeface="Microsoft YaHei"/>
                <a:cs typeface="Microsoft YaHei"/>
              </a:rPr>
              <a:t>08 / 14</a:t>
            </a:r>
          </a:p>
        </p:txBody>
      </p:sp>
    </p:spTree>
    <p:extLst>
      <p:ext uri="{BB962C8B-B14F-4D97-AF65-F5344CB8AC3E}">
        <p14:creationId xmlns:p14="http://schemas.microsoft.com/office/powerpoint/2010/main" val="110904138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9-title">
            <a:extLst xmlns:a="http://schemas.openxmlformats.org/drawingml/2006/main">
              <a:ext uri="{FF2B5EF4-FFF2-40B4-BE49-F238E27FC236}">
                <a16:creationId xmlns:a16="http://schemas.microsoft.com/office/drawing/2014/main" id="{1F4F8687-757F-4870-9A57-03DD645D3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02F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02F52"/>
                </a:solidFill>
                <a:latin typeface="Microsoft YaHei"/>
                <a:ea typeface="Microsoft YaHei"/>
                <a:cs typeface="Microsoft YaHei"/>
              </a:rPr>
              <a:t>阈值与混淆矩阵</a:t>
            </a:r>
          </a:p>
        </p:txBody>
      </p:sp>
      <p:sp>
        <p:nvSpPr>
          <p:cNvPr id="2" name="slide-9-goal-label">
            <a:extLst xmlns:a="http://schemas.openxmlformats.org/drawingml/2006/main">
              <a:ext uri="{FF2B5EF4-FFF2-40B4-BE49-F238E27FC236}">
                <a16:creationId xmlns:a16="http://schemas.microsoft.com/office/drawing/2014/main" id="{66886C12-CF70-4BF1-B009-DA9D2061B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81175"/>
            <a:ext cx="133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87D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87D88"/>
                </a:solidFill>
                <a:latin typeface="Microsoft YaHei"/>
                <a:ea typeface="Microsoft YaHei"/>
                <a:cs typeface="Microsoft YaHei"/>
              </a:rPr>
              <a:t>本页目标</a:t>
            </a:r>
          </a:p>
        </p:txBody>
      </p:sp>
      <p:sp>
        <p:nvSpPr>
          <p:cNvPr id="3" name="slide-9-goal">
            <a:extLst xmlns:a="http://schemas.openxmlformats.org/drawingml/2006/main">
              <a:ext uri="{FF2B5EF4-FFF2-40B4-BE49-F238E27FC236}">
                <a16:creationId xmlns:a16="http://schemas.microsoft.com/office/drawing/2014/main" id="{354BB3E2-39ED-4DDA-AD50-B1186E8AC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1733550"/>
            <a:ext cx="93916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63E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E57"/>
                </a:solidFill>
                <a:latin typeface="Microsoft YaHei"/>
                <a:ea typeface="Microsoft YaHei"/>
                <a:cs typeface="Microsoft YaHei"/>
              </a:rPr>
              <a:t>理解从概率到类别的阈值规则及两类错误的变化。</a:t>
            </a:r>
          </a:p>
        </p:txBody>
      </p:sp>
      <p:sp>
        <p:nvSpPr>
          <p:cNvPr id="4" name="slide-9-points-label">
            <a:extLst xmlns:a="http://schemas.openxmlformats.org/drawingml/2006/main">
              <a:ext uri="{FF2B5EF4-FFF2-40B4-BE49-F238E27FC236}">
                <a16:creationId xmlns:a16="http://schemas.microsoft.com/office/drawing/2014/main" id="{0A3D9A1B-74E5-4FCE-BAE4-F1DB9B3E4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647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87D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87D88"/>
                </a:solidFill>
                <a:latin typeface="Microsoft YaHei"/>
                <a:ea typeface="Microsoft YaHei"/>
                <a:cs typeface="Microsoft YaHei"/>
              </a:rPr>
              <a:t>讲述顺序</a:t>
            </a:r>
          </a:p>
        </p:txBody>
      </p:sp>
      <p:sp>
        <p:nvSpPr>
          <p:cNvPr id="5" name="slide-9-point-1">
            <a:extLst xmlns:a="http://schemas.openxmlformats.org/drawingml/2006/main">
              <a:ext uri="{FF2B5EF4-FFF2-40B4-BE49-F238E27FC236}">
                <a16:creationId xmlns:a16="http://schemas.microsoft.com/office/drawing/2014/main" id="{84687DB0-D355-4CBD-80D9-E7332D2BB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6715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63E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E57"/>
                </a:solidFill>
                <a:latin typeface="Microsoft YaHei"/>
                <a:ea typeface="Microsoft YaHei"/>
                <a:cs typeface="Microsoft YaHei"/>
              </a:rPr>
              <a:t>1. 约定p≥阈值判为通过，0.5只是常见起点</a:t>
            </a:r>
          </a:p>
        </p:txBody>
      </p:sp>
      <p:sp>
        <p:nvSpPr>
          <p:cNvPr id="6" name="slide-9-point-2">
            <a:extLst xmlns:a="http://schemas.openxmlformats.org/drawingml/2006/main">
              <a:ext uri="{FF2B5EF4-FFF2-40B4-BE49-F238E27FC236}">
                <a16:creationId xmlns:a16="http://schemas.microsoft.com/office/drawing/2014/main" id="{0969236A-9618-4C13-B090-5CF60CBF0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67125"/>
            <a:ext cx="6715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63E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E57"/>
                </a:solidFill>
                <a:latin typeface="Microsoft YaHei"/>
                <a:ea typeface="Microsoft YaHei"/>
                <a:cs typeface="Microsoft YaHei"/>
              </a:rPr>
              <a:t>2. 混淆矩阵区分TP、FP、FN、TN</a:t>
            </a:r>
          </a:p>
        </p:txBody>
      </p:sp>
      <p:sp>
        <p:nvSpPr>
          <p:cNvPr id="7" name="slide-9-point-3">
            <a:extLst xmlns:a="http://schemas.openxmlformats.org/drawingml/2006/main">
              <a:ext uri="{FF2B5EF4-FFF2-40B4-BE49-F238E27FC236}">
                <a16:creationId xmlns:a16="http://schemas.microsoft.com/office/drawing/2014/main" id="{2947C2C9-F1EE-4FE7-89F9-1E5369B91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6715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63E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E57"/>
                </a:solidFill>
                <a:latin typeface="Microsoft YaHei"/>
                <a:ea typeface="Microsoft YaHei"/>
                <a:cs typeface="Microsoft YaHei"/>
              </a:rPr>
              <a:t>3. 固定模型改变阈值，观察取舍；阈值应在验证集选择</a:t>
            </a:r>
          </a:p>
        </p:txBody>
      </p:sp>
      <p:sp>
        <p:nvSpPr>
          <p:cNvPr id="8" name="slide-9-visual-label">
            <a:extLst xmlns:a="http://schemas.openxmlformats.org/drawingml/2006/main">
              <a:ext uri="{FF2B5EF4-FFF2-40B4-BE49-F238E27FC236}">
                <a16:creationId xmlns:a16="http://schemas.microsoft.com/office/drawing/2014/main" id="{6BC1F291-D5A9-49A1-B26F-A68184D21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686050"/>
            <a:ext cx="3409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87D88"/>
                </a:solidFill>
                <a:latin typeface="Microsoft YaHei"/>
                <a:ea typeface="Microsoft YaHei"/>
                <a:cs typeface="Microsoft YaHei"/>
              </a:defRPr>
            </a:pPr>
            <a:r>
              <a:t>本页要点</a:t>
            </a:r>
          </a:p>
        </p:txBody>
      </p:sp>
      <p:sp>
        <p:nvSpPr>
          <p:cNvPr id="9" name="slide-9-visual">
            <a:extLst xmlns:a="http://schemas.openxmlformats.org/drawingml/2006/main">
              <a:ext uri="{FF2B5EF4-FFF2-40B4-BE49-F238E27FC236}">
                <a16:creationId xmlns:a16="http://schemas.microsoft.com/office/drawing/2014/main" id="{66B0FC3D-F0EE-44A3-A306-6BD48731F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62300"/>
            <a:ext cx="34099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00" b="0">
                <a:solidFill>
                  <a:srgbClr val="152139"/>
                </a:solidFill>
                <a:latin typeface="Microsoft YaHei"/>
                <a:ea typeface="Microsoft YaHei"/>
                <a:cs typeface="Microsoft YaHei"/>
              </a:defRPr>
            </a:pPr>
            <a:r>
              <a:t>p ≥ τ → 预测通过</a:t>
            </a:r>
          </a:p>
          <a:p xmlns:a="http://schemas.openxmlformats.org/drawingml/2006/main">
            <a:pPr>
              <a:defRPr sz="1300">
                <a:solidFill>
                  <a:srgbClr val="152139"/>
                </a:solidFill>
                <a:latin typeface="Microsoft YaHei"/>
              </a:defRPr>
            </a:pPr>
            <a:r>
              <a:t>TP  FP</a:t>
            </a:r>
          </a:p>
          <a:p xmlns:a="http://schemas.openxmlformats.org/drawingml/2006/main">
            <a:pPr>
              <a:defRPr sz="1300">
                <a:solidFill>
                  <a:srgbClr val="152139"/>
                </a:solidFill>
                <a:latin typeface="Microsoft YaHei"/>
              </a:defRPr>
            </a:pPr>
            <a:r>
              <a:t>FN  TN</a:t>
            </a:r>
          </a:p>
          <a:p xmlns:a="http://schemas.openxmlformats.org/drawingml/2006/main">
            <a:pPr>
              <a:defRPr sz="1300">
                <a:solidFill>
                  <a:srgbClr val="152139"/>
                </a:solidFill>
                <a:latin typeface="Microsoft YaHei"/>
              </a:defRPr>
            </a:pPr>
            <a:r>
              <a:t>只改 τ，概率不变</a:t>
            </a:r>
          </a:p>
        </p:txBody>
      </p:sp>
      <p:sp>
        <p:nvSpPr>
          <p:cNvPr id="10" name="slide-9-timing">
            <a:extLst xmlns:a="http://schemas.openxmlformats.org/drawingml/2006/main">
              <a:ext uri="{FF2B5EF4-FFF2-40B4-BE49-F238E27FC236}">
                <a16:creationId xmlns:a16="http://schemas.microsoft.com/office/drawing/2014/main" id="{91003FF2-9525-4D4D-A406-BCFE0446E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378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3788D"/>
                </a:solidFill>
                <a:latin typeface="Microsoft YaHei"/>
                <a:ea typeface="Microsoft YaHei"/>
                <a:cs typeface="Microsoft YaHei"/>
              </a:rPr>
              <a:t>09:30 至 11:10    本页 100 秒</a:t>
            </a:r>
          </a:p>
        </p:txBody>
      </p:sp>
      <p:sp>
        <p:nvSpPr>
          <p:cNvPr id="11" name="slide-9-page">
            <a:extLst xmlns:a="http://schemas.openxmlformats.org/drawingml/2006/main">
              <a:ext uri="{FF2B5EF4-FFF2-40B4-BE49-F238E27FC236}">
                <a16:creationId xmlns:a16="http://schemas.microsoft.com/office/drawing/2014/main" id="{B2605365-C7E0-4C23-9E4A-77B56B0FE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286500"/>
            <a:ext cx="1219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6378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3788D"/>
                </a:solidFill>
                <a:latin typeface="Microsoft YaHei"/>
                <a:ea typeface="Microsoft YaHei"/>
                <a:cs typeface="Microsoft YaHei"/>
              </a:rPr>
              <a:t>09 / 14</a:t>
            </a:r>
          </a:p>
        </p:txBody>
      </p:sp>
    </p:spTree>
    <p:extLst>
      <p:ext uri="{BB962C8B-B14F-4D97-AF65-F5344CB8AC3E}">
        <p14:creationId xmlns:p14="http://schemas.microsoft.com/office/powerpoint/2010/main" val="100708849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10-title">
            <a:extLst xmlns:a="http://schemas.openxmlformats.org/drawingml/2006/main">
              <a:ext uri="{FF2B5EF4-FFF2-40B4-BE49-F238E27FC236}">
                <a16:creationId xmlns:a16="http://schemas.microsoft.com/office/drawing/2014/main" id="{BB494941-E022-4366-8E35-CBD6FA3A5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02F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02F52"/>
                </a:solidFill>
                <a:latin typeface="Microsoft YaHei"/>
                <a:ea typeface="Microsoft YaHei"/>
                <a:cs typeface="Microsoft YaHei"/>
              </a:rPr>
              <a:t>二维决策边界</a:t>
            </a:r>
          </a:p>
        </p:txBody>
      </p:sp>
      <p:sp>
        <p:nvSpPr>
          <p:cNvPr id="2" name="slide-10-goal-label">
            <a:extLst xmlns:a="http://schemas.openxmlformats.org/drawingml/2006/main">
              <a:ext uri="{FF2B5EF4-FFF2-40B4-BE49-F238E27FC236}">
                <a16:creationId xmlns:a16="http://schemas.microsoft.com/office/drawing/2014/main" id="{15D632F4-7044-4D28-97F2-E4296822D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81175"/>
            <a:ext cx="133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87D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87D88"/>
                </a:solidFill>
                <a:latin typeface="Microsoft YaHei"/>
                <a:ea typeface="Microsoft YaHei"/>
                <a:cs typeface="Microsoft YaHei"/>
              </a:rPr>
              <a:t>本页目标</a:t>
            </a:r>
          </a:p>
        </p:txBody>
      </p:sp>
      <p:sp>
        <p:nvSpPr>
          <p:cNvPr id="3" name="slide-10-goal">
            <a:extLst xmlns:a="http://schemas.openxmlformats.org/drawingml/2006/main">
              <a:ext uri="{FF2B5EF4-FFF2-40B4-BE49-F238E27FC236}">
                <a16:creationId xmlns:a16="http://schemas.microsoft.com/office/drawing/2014/main" id="{96420D48-763C-4EA4-B0D5-7CE678236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1733550"/>
            <a:ext cx="93916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63E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E57"/>
                </a:solidFill>
                <a:latin typeface="Microsoft YaHei"/>
                <a:ea typeface="Microsoft YaHei"/>
                <a:cs typeface="Microsoft YaHei"/>
              </a:rPr>
              <a:t>用二维图解释逻辑回归为何具有线性决策边界。</a:t>
            </a:r>
          </a:p>
        </p:txBody>
      </p:sp>
      <p:sp>
        <p:nvSpPr>
          <p:cNvPr id="4" name="slide-10-points-label">
            <a:extLst xmlns:a="http://schemas.openxmlformats.org/drawingml/2006/main">
              <a:ext uri="{FF2B5EF4-FFF2-40B4-BE49-F238E27FC236}">
                <a16:creationId xmlns:a16="http://schemas.microsoft.com/office/drawing/2014/main" id="{9B417724-3118-4B2A-A6C1-4EF5ED855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647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87D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87D88"/>
                </a:solidFill>
                <a:latin typeface="Microsoft YaHei"/>
                <a:ea typeface="Microsoft YaHei"/>
                <a:cs typeface="Microsoft YaHei"/>
              </a:rPr>
              <a:t>讲述顺序</a:t>
            </a:r>
          </a:p>
        </p:txBody>
      </p:sp>
      <p:sp>
        <p:nvSpPr>
          <p:cNvPr id="5" name="slide-10-point-1">
            <a:extLst xmlns:a="http://schemas.openxmlformats.org/drawingml/2006/main">
              <a:ext uri="{FF2B5EF4-FFF2-40B4-BE49-F238E27FC236}">
                <a16:creationId xmlns:a16="http://schemas.microsoft.com/office/drawing/2014/main" id="{BD11CC38-823F-467E-8D75-C483036A2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6715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63E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E57"/>
                </a:solidFill>
                <a:latin typeface="Microsoft YaHei"/>
                <a:ea typeface="Microsoft YaHei"/>
                <a:cs typeface="Microsoft YaHei"/>
              </a:rPr>
              <a:t>1. 增加练习完成率，让两个特征组成二维平面</a:t>
            </a:r>
          </a:p>
        </p:txBody>
      </p:sp>
      <p:sp>
        <p:nvSpPr>
          <p:cNvPr id="6" name="slide-10-point-2">
            <a:extLst xmlns:a="http://schemas.openxmlformats.org/drawingml/2006/main">
              <a:ext uri="{FF2B5EF4-FFF2-40B4-BE49-F238E27FC236}">
                <a16:creationId xmlns:a16="http://schemas.microsoft.com/office/drawing/2014/main" id="{5F2D4767-2AC5-48BF-B69D-5E07601F8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67125"/>
            <a:ext cx="6715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63E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E57"/>
                </a:solidFill>
                <a:latin typeface="Microsoft YaHei"/>
                <a:ea typeface="Microsoft YaHei"/>
                <a:cs typeface="Microsoft YaHei"/>
              </a:rPr>
              <a:t>2. 固定阈值对应一条线性决策边界</a:t>
            </a:r>
          </a:p>
        </p:txBody>
      </p:sp>
      <p:sp>
        <p:nvSpPr>
          <p:cNvPr id="7" name="slide-10-point-3">
            <a:extLst xmlns:a="http://schemas.openxmlformats.org/drawingml/2006/main">
              <a:ext uri="{FF2B5EF4-FFF2-40B4-BE49-F238E27FC236}">
                <a16:creationId xmlns:a16="http://schemas.microsoft.com/office/drawing/2014/main" id="{D76BE5FD-0C61-4BD9-84E7-0F8B8CA35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6715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63E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E57"/>
                </a:solidFill>
                <a:latin typeface="Microsoft YaHei"/>
                <a:ea typeface="Microsoft YaHei"/>
                <a:cs typeface="Microsoft YaHei"/>
              </a:rPr>
              <a:t>3. Sigmoid是曲线，不意味着原始特征中的边界会弯曲</a:t>
            </a:r>
          </a:p>
        </p:txBody>
      </p:sp>
      <p:sp>
        <p:nvSpPr>
          <p:cNvPr id="8" name="slide-10-visual-label">
            <a:extLst xmlns:a="http://schemas.openxmlformats.org/drawingml/2006/main">
              <a:ext uri="{FF2B5EF4-FFF2-40B4-BE49-F238E27FC236}">
                <a16:creationId xmlns:a16="http://schemas.microsoft.com/office/drawing/2014/main" id="{44FA8388-2A0A-4299-983A-09A275737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686050"/>
            <a:ext cx="3409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87D88"/>
                </a:solidFill>
                <a:latin typeface="Microsoft YaHei"/>
                <a:ea typeface="Microsoft YaHei"/>
                <a:cs typeface="Microsoft YaHei"/>
              </a:defRPr>
            </a:pPr>
            <a:r>
              <a:t>本页要点</a:t>
            </a:r>
          </a:p>
        </p:txBody>
      </p:sp>
      <p:sp>
        <p:nvSpPr>
          <p:cNvPr id="9" name="slide-10-visual">
            <a:extLst xmlns:a="http://schemas.openxmlformats.org/drawingml/2006/main">
              <a:ext uri="{FF2B5EF4-FFF2-40B4-BE49-F238E27FC236}">
                <a16:creationId xmlns:a16="http://schemas.microsoft.com/office/drawing/2014/main" id="{976D7289-BA51-44A4-931A-1F58D09A0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62300"/>
            <a:ext cx="34099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00" b="0">
                <a:solidFill>
                  <a:srgbClr val="152139"/>
                </a:solidFill>
                <a:latin typeface="Microsoft YaHei"/>
                <a:ea typeface="Microsoft YaHei"/>
                <a:cs typeface="Microsoft YaHei"/>
              </a:defRPr>
            </a:pPr>
            <a:r>
              <a:t>两个特征 → 平面</a:t>
            </a:r>
          </a:p>
          <a:p xmlns:a="http://schemas.openxmlformats.org/drawingml/2006/main">
            <a:pPr>
              <a:defRPr sz="1300">
                <a:solidFill>
                  <a:srgbClr val="152139"/>
                </a:solidFill>
                <a:latin typeface="Microsoft YaHei"/>
              </a:defRPr>
            </a:pPr>
            <a:r>
              <a:t>p=0.5 是一条直线</a:t>
            </a:r>
          </a:p>
          <a:p xmlns:a="http://schemas.openxmlformats.org/drawingml/2006/main">
            <a:pPr>
              <a:defRPr sz="1300">
                <a:solidFill>
                  <a:srgbClr val="152139"/>
                </a:solidFill>
                <a:latin typeface="Microsoft YaHei"/>
              </a:defRPr>
            </a:pPr>
            <a:r>
              <a:t>S 形 ≠ 弯曲边界</a:t>
            </a:r>
          </a:p>
          <a:p xmlns:a="http://schemas.openxmlformats.org/drawingml/2006/main">
            <a:pPr>
              <a:defRPr sz="1300">
                <a:solidFill>
                  <a:srgbClr val="152139"/>
                </a:solidFill>
                <a:latin typeface="Microsoft YaHei"/>
              </a:defRPr>
            </a:pPr>
            <a:r>
              <a:t>环形数据直线不够</a:t>
            </a:r>
          </a:p>
        </p:txBody>
      </p:sp>
      <p:sp>
        <p:nvSpPr>
          <p:cNvPr id="10" name="slide-10-timing">
            <a:extLst xmlns:a="http://schemas.openxmlformats.org/drawingml/2006/main">
              <a:ext uri="{FF2B5EF4-FFF2-40B4-BE49-F238E27FC236}">
                <a16:creationId xmlns:a16="http://schemas.microsoft.com/office/drawing/2014/main" id="{D0D9E317-B056-4B1D-8EB8-26FC62955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378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3788D"/>
                </a:solidFill>
                <a:latin typeface="Microsoft YaHei"/>
                <a:ea typeface="Microsoft YaHei"/>
                <a:cs typeface="Microsoft YaHei"/>
              </a:rPr>
              <a:t>11:10 至 12:50    本页 100 秒</a:t>
            </a:r>
          </a:p>
        </p:txBody>
      </p:sp>
      <p:sp>
        <p:nvSpPr>
          <p:cNvPr id="11" name="slide-10-page">
            <a:extLst xmlns:a="http://schemas.openxmlformats.org/drawingml/2006/main">
              <a:ext uri="{FF2B5EF4-FFF2-40B4-BE49-F238E27FC236}">
                <a16:creationId xmlns:a16="http://schemas.microsoft.com/office/drawing/2014/main" id="{25B380FB-5E55-4537-B085-60BCFCFD4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286500"/>
            <a:ext cx="1219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6378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3788D"/>
                </a:solidFill>
                <a:latin typeface="Microsoft YaHei"/>
                <a:ea typeface="Microsoft YaHei"/>
                <a:cs typeface="Microsoft YaHei"/>
              </a:rPr>
              <a:t>10 / 14</a:t>
            </a:r>
          </a:p>
        </p:txBody>
      </p:sp>
    </p:spTree>
    <p:extLst>
      <p:ext uri="{BB962C8B-B14F-4D97-AF65-F5344CB8AC3E}">
        <p14:creationId xmlns:p14="http://schemas.microsoft.com/office/powerpoint/2010/main" val="122059018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11-title">
            <a:extLst xmlns:a="http://schemas.openxmlformats.org/drawingml/2006/main">
              <a:ext uri="{FF2B5EF4-FFF2-40B4-BE49-F238E27FC236}">
                <a16:creationId xmlns:a16="http://schemas.microsoft.com/office/drawing/2014/main" id="{EB3ABE22-23A1-487B-BA49-02EA8357B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02F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02F52"/>
                </a:solidFill>
                <a:latin typeface="Microsoft YaHei"/>
                <a:ea typeface="Microsoft YaHei"/>
                <a:cs typeface="Microsoft YaHei"/>
              </a:rPr>
              <a:t>两种任务怎样评价</a:t>
            </a:r>
          </a:p>
        </p:txBody>
      </p:sp>
      <p:sp>
        <p:nvSpPr>
          <p:cNvPr id="2" name="slide-11-goal-label">
            <a:extLst xmlns:a="http://schemas.openxmlformats.org/drawingml/2006/main">
              <a:ext uri="{FF2B5EF4-FFF2-40B4-BE49-F238E27FC236}">
                <a16:creationId xmlns:a16="http://schemas.microsoft.com/office/drawing/2014/main" id="{C977510F-805B-4EB2-B742-D3BAA710A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81175"/>
            <a:ext cx="133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87D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87D88"/>
                </a:solidFill>
                <a:latin typeface="Microsoft YaHei"/>
                <a:ea typeface="Microsoft YaHei"/>
                <a:cs typeface="Microsoft YaHei"/>
              </a:rPr>
              <a:t>本页目标</a:t>
            </a:r>
          </a:p>
        </p:txBody>
      </p:sp>
      <p:sp>
        <p:nvSpPr>
          <p:cNvPr id="3" name="slide-11-goal">
            <a:extLst xmlns:a="http://schemas.openxmlformats.org/drawingml/2006/main">
              <a:ext uri="{FF2B5EF4-FFF2-40B4-BE49-F238E27FC236}">
                <a16:creationId xmlns:a16="http://schemas.microsoft.com/office/drawing/2014/main" id="{B6BD3F63-660A-4677-9996-FF2BECFC4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1733550"/>
            <a:ext cx="93916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63E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E57"/>
                </a:solidFill>
                <a:latin typeface="Microsoft YaHei"/>
                <a:ea typeface="Microsoft YaHei"/>
                <a:cs typeface="Microsoft YaHei"/>
              </a:rPr>
              <a:t>按照预测任务选择指标，避免准确率与R²的常见误读。</a:t>
            </a:r>
          </a:p>
        </p:txBody>
      </p:sp>
      <p:sp>
        <p:nvSpPr>
          <p:cNvPr id="4" name="slide-11-points-label">
            <a:extLst xmlns:a="http://schemas.openxmlformats.org/drawingml/2006/main">
              <a:ext uri="{FF2B5EF4-FFF2-40B4-BE49-F238E27FC236}">
                <a16:creationId xmlns:a16="http://schemas.microsoft.com/office/drawing/2014/main" id="{6E83C1F6-7F3B-4311-B114-F0AB56D00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647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87D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87D88"/>
                </a:solidFill>
                <a:latin typeface="Microsoft YaHei"/>
                <a:ea typeface="Microsoft YaHei"/>
                <a:cs typeface="Microsoft YaHei"/>
              </a:rPr>
              <a:t>讲述顺序</a:t>
            </a:r>
          </a:p>
        </p:txBody>
      </p:sp>
      <p:sp>
        <p:nvSpPr>
          <p:cNvPr id="5" name="slide-11-point-1">
            <a:extLst xmlns:a="http://schemas.openxmlformats.org/drawingml/2006/main">
              <a:ext uri="{FF2B5EF4-FFF2-40B4-BE49-F238E27FC236}">
                <a16:creationId xmlns:a16="http://schemas.microsoft.com/office/drawing/2014/main" id="{681EDD63-0896-4459-AC18-1BE226612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6715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63E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E57"/>
                </a:solidFill>
                <a:latin typeface="Microsoft YaHei"/>
                <a:ea typeface="Microsoft YaHei"/>
                <a:cs typeface="Microsoft YaHei"/>
              </a:rPr>
              <a:t>1. 回归：MAE/RMSE回答数值误差大小</a:t>
            </a:r>
          </a:p>
          <a:p xmlns:a="http://schemas.openxmlformats.org/drawingml/2006/main">
            <a:pPr algn="l">
              <a:defRPr sz="2025" b="0">
                <a:solidFill>
                  <a:srgbClr val="263E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E57"/>
                </a:solidFill>
                <a:latin typeface="Microsoft YaHei"/>
                <a:ea typeface="Microsoft YaHei"/>
                <a:cs typeface="Microsoft YaHei"/>
              </a:rPr>
              <a:t>R²与均值基线比较</a:t>
            </a:r>
          </a:p>
        </p:txBody>
      </p:sp>
      <p:sp>
        <p:nvSpPr>
          <p:cNvPr id="6" name="slide-11-point-2">
            <a:extLst xmlns:a="http://schemas.openxmlformats.org/drawingml/2006/main">
              <a:ext uri="{FF2B5EF4-FFF2-40B4-BE49-F238E27FC236}">
                <a16:creationId xmlns:a16="http://schemas.microsoft.com/office/drawing/2014/main" id="{431B350F-0BE0-4AC4-874B-E8CF6ED6B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90975"/>
            <a:ext cx="6715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63E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E57"/>
                </a:solidFill>
                <a:latin typeface="Microsoft YaHei"/>
                <a:ea typeface="Microsoft YaHei"/>
                <a:cs typeface="Microsoft YaHei"/>
              </a:rPr>
              <a:t>2. 分类：准确率结合精确率、召回率和F1理解</a:t>
            </a:r>
          </a:p>
        </p:txBody>
      </p:sp>
      <p:sp>
        <p:nvSpPr>
          <p:cNvPr id="7" name="slide-11-point-3">
            <a:extLst xmlns:a="http://schemas.openxmlformats.org/drawingml/2006/main">
              <a:ext uri="{FF2B5EF4-FFF2-40B4-BE49-F238E27FC236}">
                <a16:creationId xmlns:a16="http://schemas.microsoft.com/office/drawing/2014/main" id="{5AF03A8C-B798-4D3D-935E-65AADAF6D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5800"/>
            <a:ext cx="6715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63E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E57"/>
                </a:solidFill>
                <a:latin typeface="Microsoft YaHei"/>
                <a:ea typeface="Microsoft YaHei"/>
                <a:cs typeface="Microsoft YaHei"/>
              </a:rPr>
              <a:t>3. 区分类别决策质量与概率质量，避免单指标结论</a:t>
            </a:r>
          </a:p>
        </p:txBody>
      </p:sp>
      <p:sp>
        <p:nvSpPr>
          <p:cNvPr id="8" name="slide-11-visual-label">
            <a:extLst xmlns:a="http://schemas.openxmlformats.org/drawingml/2006/main">
              <a:ext uri="{FF2B5EF4-FFF2-40B4-BE49-F238E27FC236}">
                <a16:creationId xmlns:a16="http://schemas.microsoft.com/office/drawing/2014/main" id="{943C7238-9B08-4F68-A811-58A725ED5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686050"/>
            <a:ext cx="3409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87D88"/>
                </a:solidFill>
                <a:latin typeface="Microsoft YaHei"/>
                <a:ea typeface="Microsoft YaHei"/>
                <a:cs typeface="Microsoft YaHei"/>
              </a:defRPr>
            </a:pPr>
            <a:r>
              <a:t>本页要点</a:t>
            </a:r>
          </a:p>
        </p:txBody>
      </p:sp>
      <p:sp>
        <p:nvSpPr>
          <p:cNvPr id="9" name="slide-11-visual">
            <a:extLst xmlns:a="http://schemas.openxmlformats.org/drawingml/2006/main">
              <a:ext uri="{FF2B5EF4-FFF2-40B4-BE49-F238E27FC236}">
                <a16:creationId xmlns:a16="http://schemas.microsoft.com/office/drawing/2014/main" id="{079CEADF-D47C-4E6D-95B4-0FD3B0AEE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62300"/>
            <a:ext cx="34099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00" b="0">
                <a:solidFill>
                  <a:srgbClr val="152139"/>
                </a:solidFill>
                <a:latin typeface="Microsoft YaHei"/>
                <a:ea typeface="Microsoft YaHei"/>
                <a:cs typeface="Microsoft YaHei"/>
              </a:defRPr>
            </a:pPr>
            <a:r>
              <a:t>回归：MAE / RMSE</a:t>
            </a:r>
          </a:p>
          <a:p xmlns:a="http://schemas.openxmlformats.org/drawingml/2006/main">
            <a:pPr>
              <a:defRPr sz="1300">
                <a:solidFill>
                  <a:srgbClr val="152139"/>
                </a:solidFill>
                <a:latin typeface="Microsoft YaHei"/>
              </a:defRPr>
            </a:pPr>
            <a:r>
              <a:t>R² 可为负，不是准确率</a:t>
            </a:r>
          </a:p>
          <a:p xmlns:a="http://schemas.openxmlformats.org/drawingml/2006/main">
            <a:pPr>
              <a:defRPr sz="1300">
                <a:solidFill>
                  <a:srgbClr val="152139"/>
                </a:solidFill>
                <a:latin typeface="Microsoft YaHei"/>
              </a:defRPr>
            </a:pPr>
            <a:r>
              <a:t>分类：P / R / F1</a:t>
            </a:r>
          </a:p>
          <a:p xmlns:a="http://schemas.openxmlformats.org/drawingml/2006/main">
            <a:pPr>
              <a:defRPr sz="1300">
                <a:solidFill>
                  <a:srgbClr val="152139"/>
                </a:solidFill>
                <a:latin typeface="Microsoft YaHei"/>
              </a:defRPr>
            </a:pPr>
            <a:r>
              <a:t>不平衡别只看准确率</a:t>
            </a:r>
          </a:p>
        </p:txBody>
      </p:sp>
      <p:sp>
        <p:nvSpPr>
          <p:cNvPr id="10" name="slide-11-timing">
            <a:extLst xmlns:a="http://schemas.openxmlformats.org/drawingml/2006/main">
              <a:ext uri="{FF2B5EF4-FFF2-40B4-BE49-F238E27FC236}">
                <a16:creationId xmlns:a16="http://schemas.microsoft.com/office/drawing/2014/main" id="{85EE0D2A-99C0-4817-9F55-5C337DB83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378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3788D"/>
                </a:solidFill>
                <a:latin typeface="Microsoft YaHei"/>
                <a:ea typeface="Microsoft YaHei"/>
                <a:cs typeface="Microsoft YaHei"/>
              </a:rPr>
              <a:t>12:50 至 14:20    本页 90 秒</a:t>
            </a:r>
          </a:p>
        </p:txBody>
      </p:sp>
      <p:sp>
        <p:nvSpPr>
          <p:cNvPr id="11" name="slide-11-page">
            <a:extLst xmlns:a="http://schemas.openxmlformats.org/drawingml/2006/main">
              <a:ext uri="{FF2B5EF4-FFF2-40B4-BE49-F238E27FC236}">
                <a16:creationId xmlns:a16="http://schemas.microsoft.com/office/drawing/2014/main" id="{E45FC5EF-4638-41B6-AA8C-EBA7CE1EE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286500"/>
            <a:ext cx="1219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6378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3788D"/>
                </a:solidFill>
                <a:latin typeface="Microsoft YaHei"/>
                <a:ea typeface="Microsoft YaHei"/>
                <a:cs typeface="Microsoft YaHei"/>
              </a:rPr>
              <a:t>11 / 14</a:t>
            </a:r>
          </a:p>
        </p:txBody>
      </p:sp>
    </p:spTree>
    <p:extLst>
      <p:ext uri="{BB962C8B-B14F-4D97-AF65-F5344CB8AC3E}">
        <p14:creationId xmlns:p14="http://schemas.microsoft.com/office/powerpoint/2010/main" val="190502528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12-title">
            <a:extLst xmlns:a="http://schemas.openxmlformats.org/drawingml/2006/main">
              <a:ext uri="{FF2B5EF4-FFF2-40B4-BE49-F238E27FC236}">
                <a16:creationId xmlns:a16="http://schemas.microsoft.com/office/drawing/2014/main" id="{12884FBC-2D15-4A6A-BA8A-337504E78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02F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02F52"/>
                </a:solidFill>
                <a:latin typeface="Microsoft YaHei"/>
                <a:ea typeface="Microsoft YaHei"/>
                <a:cs typeface="Microsoft YaHei"/>
              </a:rPr>
              <a:t>一次规范的建模实验</a:t>
            </a:r>
          </a:p>
        </p:txBody>
      </p:sp>
      <p:sp>
        <p:nvSpPr>
          <p:cNvPr id="2" name="slide-12-goal-label">
            <a:extLst xmlns:a="http://schemas.openxmlformats.org/drawingml/2006/main">
              <a:ext uri="{FF2B5EF4-FFF2-40B4-BE49-F238E27FC236}">
                <a16:creationId xmlns:a16="http://schemas.microsoft.com/office/drawing/2014/main" id="{89671379-859E-438E-A8F6-BED191250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81175"/>
            <a:ext cx="133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87D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87D88"/>
                </a:solidFill>
                <a:latin typeface="Microsoft YaHei"/>
                <a:ea typeface="Microsoft YaHei"/>
                <a:cs typeface="Microsoft YaHei"/>
              </a:rPr>
              <a:t>本页目标</a:t>
            </a:r>
          </a:p>
        </p:txBody>
      </p:sp>
      <p:sp>
        <p:nvSpPr>
          <p:cNvPr id="3" name="slide-12-goal">
            <a:extLst xmlns:a="http://schemas.openxmlformats.org/drawingml/2006/main">
              <a:ext uri="{FF2B5EF4-FFF2-40B4-BE49-F238E27FC236}">
                <a16:creationId xmlns:a16="http://schemas.microsoft.com/office/drawing/2014/main" id="{6BE890F3-140A-40CC-9E33-6C0D52233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1733550"/>
            <a:ext cx="93916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63E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E57"/>
                </a:solidFill>
                <a:latin typeface="Microsoft YaHei"/>
                <a:ea typeface="Microsoft YaHei"/>
                <a:cs typeface="Microsoft YaHei"/>
              </a:rPr>
              <a:t>给出可以照着完成的实验流程，并建立可信评价边界。</a:t>
            </a:r>
          </a:p>
        </p:txBody>
      </p:sp>
      <p:sp>
        <p:nvSpPr>
          <p:cNvPr id="4" name="slide-12-points-label">
            <a:extLst xmlns:a="http://schemas.openxmlformats.org/drawingml/2006/main">
              <a:ext uri="{FF2B5EF4-FFF2-40B4-BE49-F238E27FC236}">
                <a16:creationId xmlns:a16="http://schemas.microsoft.com/office/drawing/2014/main" id="{B0E57A13-5DA4-40A6-BCFB-A76899A11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647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87D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87D88"/>
                </a:solidFill>
                <a:latin typeface="Microsoft YaHei"/>
                <a:ea typeface="Microsoft YaHei"/>
                <a:cs typeface="Microsoft YaHei"/>
              </a:rPr>
              <a:t>讲述顺序</a:t>
            </a:r>
          </a:p>
        </p:txBody>
      </p:sp>
      <p:sp>
        <p:nvSpPr>
          <p:cNvPr id="5" name="slide-12-point-1">
            <a:extLst xmlns:a="http://schemas.openxmlformats.org/drawingml/2006/main">
              <a:ext uri="{FF2B5EF4-FFF2-40B4-BE49-F238E27FC236}">
                <a16:creationId xmlns:a16="http://schemas.microsoft.com/office/drawing/2014/main" id="{ABB09260-6215-405F-9C54-C5E67AB67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6715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63E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E57"/>
                </a:solidFill>
                <a:latin typeface="Microsoft YaHei"/>
                <a:ea typeface="Microsoft YaHei"/>
                <a:cs typeface="Microsoft YaHei"/>
              </a:rPr>
              <a:t>1. 固定教学模拟数据，先划分训练/验证/测试集并建立基线</a:t>
            </a:r>
          </a:p>
        </p:txBody>
      </p:sp>
      <p:sp>
        <p:nvSpPr>
          <p:cNvPr id="6" name="slide-12-point-2">
            <a:extLst xmlns:a="http://schemas.openxmlformats.org/drawingml/2006/main">
              <a:ext uri="{FF2B5EF4-FFF2-40B4-BE49-F238E27FC236}">
                <a16:creationId xmlns:a16="http://schemas.microsoft.com/office/drawing/2014/main" id="{85DDF414-B6B9-4030-8DCD-1A7E52386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67125"/>
            <a:ext cx="6715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63E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E57"/>
                </a:solidFill>
                <a:latin typeface="Microsoft YaHei"/>
                <a:ea typeface="Microsoft YaHei"/>
                <a:cs typeface="Microsoft YaHei"/>
              </a:rPr>
              <a:t>2. 预处理只拟合训练集，训练模型与验证选参</a:t>
            </a:r>
          </a:p>
        </p:txBody>
      </p:sp>
      <p:sp>
        <p:nvSpPr>
          <p:cNvPr id="7" name="slide-12-point-3">
            <a:extLst xmlns:a="http://schemas.openxmlformats.org/drawingml/2006/main">
              <a:ext uri="{FF2B5EF4-FFF2-40B4-BE49-F238E27FC236}">
                <a16:creationId xmlns:a16="http://schemas.microsoft.com/office/drawing/2014/main" id="{6242DE32-C873-4A34-A15F-3359E58F9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6715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63E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E57"/>
                </a:solidFill>
                <a:latin typeface="Microsoft YaHei"/>
                <a:ea typeface="Microsoft YaHei"/>
                <a:cs typeface="Microsoft YaHei"/>
              </a:rPr>
              <a:t>3. 最后使用测试集一次报告结果，记录数据与设置</a:t>
            </a:r>
          </a:p>
        </p:txBody>
      </p:sp>
      <p:sp>
        <p:nvSpPr>
          <p:cNvPr id="8" name="slide-12-visual-label">
            <a:extLst xmlns:a="http://schemas.openxmlformats.org/drawingml/2006/main">
              <a:ext uri="{FF2B5EF4-FFF2-40B4-BE49-F238E27FC236}">
                <a16:creationId xmlns:a16="http://schemas.microsoft.com/office/drawing/2014/main" id="{A8D18D5F-2E69-490A-A636-E46FA468D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686050"/>
            <a:ext cx="3409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87D88"/>
                </a:solidFill>
                <a:latin typeface="Microsoft YaHei"/>
                <a:ea typeface="Microsoft YaHei"/>
                <a:cs typeface="Microsoft YaHei"/>
              </a:defRPr>
            </a:pPr>
            <a:r>
              <a:t>本页要点</a:t>
            </a:r>
          </a:p>
        </p:txBody>
      </p:sp>
      <p:sp>
        <p:nvSpPr>
          <p:cNvPr id="9" name="slide-12-visual">
            <a:extLst xmlns:a="http://schemas.openxmlformats.org/drawingml/2006/main">
              <a:ext uri="{FF2B5EF4-FFF2-40B4-BE49-F238E27FC236}">
                <a16:creationId xmlns:a16="http://schemas.microsoft.com/office/drawing/2014/main" id="{0C30AC43-F96D-43DF-BBCF-4F557AA6D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62300"/>
            <a:ext cx="34099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00" b="0">
                <a:solidFill>
                  <a:srgbClr val="152139"/>
                </a:solidFill>
                <a:latin typeface="Microsoft YaHei"/>
                <a:ea typeface="Microsoft YaHei"/>
                <a:cs typeface="Microsoft YaHei"/>
              </a:defRPr>
            </a:pPr>
            <a:r>
              <a:t>先划分，再标准化</a:t>
            </a:r>
          </a:p>
          <a:p xmlns:a="http://schemas.openxmlformats.org/drawingml/2006/main">
            <a:pPr>
              <a:defRPr sz="1300">
                <a:solidFill>
                  <a:srgbClr val="152139"/>
                </a:solidFill>
                <a:latin typeface="Microsoft YaHei"/>
              </a:defRPr>
            </a:pPr>
            <a:r>
              <a:t>验证集选参与阈值</a:t>
            </a:r>
          </a:p>
          <a:p xmlns:a="http://schemas.openxmlformats.org/drawingml/2006/main">
            <a:pPr>
              <a:defRPr sz="1300">
                <a:solidFill>
                  <a:srgbClr val="152139"/>
                </a:solidFill>
                <a:latin typeface="Microsoft YaHei"/>
              </a:defRPr>
            </a:pPr>
            <a:r>
              <a:t>测试集只看一次</a:t>
            </a:r>
          </a:p>
          <a:p xmlns:a="http://schemas.openxmlformats.org/drawingml/2006/main">
            <a:pPr>
              <a:defRPr sz="1300">
                <a:solidFill>
                  <a:srgbClr val="152139"/>
                </a:solidFill>
                <a:latin typeface="Microsoft YaHei"/>
              </a:defRPr>
            </a:pPr>
            <a:r>
              <a:t>未运行处写待运行</a:t>
            </a:r>
          </a:p>
        </p:txBody>
      </p:sp>
      <p:sp>
        <p:nvSpPr>
          <p:cNvPr id="10" name="slide-12-timing">
            <a:extLst xmlns:a="http://schemas.openxmlformats.org/drawingml/2006/main">
              <a:ext uri="{FF2B5EF4-FFF2-40B4-BE49-F238E27FC236}">
                <a16:creationId xmlns:a16="http://schemas.microsoft.com/office/drawing/2014/main" id="{5F29FF10-5E19-4059-8536-8E2018CF1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378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3788D"/>
                </a:solidFill>
                <a:latin typeface="Microsoft YaHei"/>
                <a:ea typeface="Microsoft YaHei"/>
                <a:cs typeface="Microsoft YaHei"/>
              </a:rPr>
              <a:t>14:20 至 15:50    本页 90 秒</a:t>
            </a:r>
          </a:p>
        </p:txBody>
      </p:sp>
      <p:sp>
        <p:nvSpPr>
          <p:cNvPr id="11" name="slide-12-page">
            <a:extLst xmlns:a="http://schemas.openxmlformats.org/drawingml/2006/main">
              <a:ext uri="{FF2B5EF4-FFF2-40B4-BE49-F238E27FC236}">
                <a16:creationId xmlns:a16="http://schemas.microsoft.com/office/drawing/2014/main" id="{F915C700-EE91-4138-AFF4-DB076DD29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286500"/>
            <a:ext cx="1219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6378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3788D"/>
                </a:solidFill>
                <a:latin typeface="Microsoft YaHei"/>
                <a:ea typeface="Microsoft YaHei"/>
                <a:cs typeface="Microsoft YaHei"/>
              </a:rPr>
              <a:t>12 / 14</a:t>
            </a:r>
          </a:p>
        </p:txBody>
      </p:sp>
    </p:spTree>
    <p:extLst>
      <p:ext uri="{BB962C8B-B14F-4D97-AF65-F5344CB8AC3E}">
        <p14:creationId xmlns:p14="http://schemas.microsoft.com/office/powerpoint/2010/main" val="70546845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13-title">
            <a:extLst xmlns:a="http://schemas.openxmlformats.org/drawingml/2006/main">
              <a:ext uri="{FF2B5EF4-FFF2-40B4-BE49-F238E27FC236}">
                <a16:creationId xmlns:a16="http://schemas.microsoft.com/office/drawing/2014/main" id="{D70E6EC9-8131-4540-9E02-9A71AD1CA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02F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02F52"/>
                </a:solidFill>
                <a:latin typeface="Microsoft YaHei"/>
                <a:ea typeface="Microsoft YaHei"/>
                <a:cs typeface="Microsoft YaHei"/>
              </a:rPr>
              <a:t>算法对照与适用边界</a:t>
            </a:r>
          </a:p>
        </p:txBody>
      </p:sp>
      <p:sp>
        <p:nvSpPr>
          <p:cNvPr id="2" name="slide-13-goal-label">
            <a:extLst xmlns:a="http://schemas.openxmlformats.org/drawingml/2006/main">
              <a:ext uri="{FF2B5EF4-FFF2-40B4-BE49-F238E27FC236}">
                <a16:creationId xmlns:a16="http://schemas.microsoft.com/office/drawing/2014/main" id="{D2E63060-096D-4933-AAD4-AA11BF8E7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81175"/>
            <a:ext cx="133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87D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87D88"/>
                </a:solidFill>
                <a:latin typeface="Microsoft YaHei"/>
                <a:ea typeface="Microsoft YaHei"/>
                <a:cs typeface="Microsoft YaHei"/>
              </a:rPr>
              <a:t>本页目标</a:t>
            </a:r>
          </a:p>
        </p:txBody>
      </p:sp>
      <p:sp>
        <p:nvSpPr>
          <p:cNvPr id="3" name="slide-13-goal">
            <a:extLst xmlns:a="http://schemas.openxmlformats.org/drawingml/2006/main">
              <a:ext uri="{FF2B5EF4-FFF2-40B4-BE49-F238E27FC236}">
                <a16:creationId xmlns:a16="http://schemas.microsoft.com/office/drawing/2014/main" id="{099AA3A9-F793-479C-ADB3-31B39AB6C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1733550"/>
            <a:ext cx="93916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63E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E57"/>
                </a:solidFill>
                <a:latin typeface="Microsoft YaHei"/>
                <a:ea typeface="Microsoft YaHei"/>
                <a:cs typeface="Microsoft YaHei"/>
              </a:rPr>
              <a:t>用统一框架对照两个算法，并说明它们适合作为基线的原因。</a:t>
            </a:r>
          </a:p>
        </p:txBody>
      </p:sp>
      <p:sp>
        <p:nvSpPr>
          <p:cNvPr id="4" name="slide-13-points-label">
            <a:extLst xmlns:a="http://schemas.openxmlformats.org/drawingml/2006/main">
              <a:ext uri="{FF2B5EF4-FFF2-40B4-BE49-F238E27FC236}">
                <a16:creationId xmlns:a16="http://schemas.microsoft.com/office/drawing/2014/main" id="{5B60DFC9-C88E-4C42-92A5-ECE37FA03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647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87D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87D88"/>
                </a:solidFill>
                <a:latin typeface="Microsoft YaHei"/>
                <a:ea typeface="Microsoft YaHei"/>
                <a:cs typeface="Microsoft YaHei"/>
              </a:rPr>
              <a:t>讲述顺序</a:t>
            </a:r>
          </a:p>
        </p:txBody>
      </p:sp>
      <p:sp>
        <p:nvSpPr>
          <p:cNvPr id="5" name="slide-13-point-1">
            <a:extLst xmlns:a="http://schemas.openxmlformats.org/drawingml/2006/main">
              <a:ext uri="{FF2B5EF4-FFF2-40B4-BE49-F238E27FC236}">
                <a16:creationId xmlns:a16="http://schemas.microsoft.com/office/drawing/2014/main" id="{B6E0BA8E-012F-4F98-9A3E-622E4108E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6715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63E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E57"/>
                </a:solidFill>
                <a:latin typeface="Microsoft YaHei"/>
                <a:ea typeface="Microsoft YaHei"/>
                <a:cs typeface="Microsoft YaHei"/>
              </a:rPr>
              <a:t>1. 共同点：线性加权、参数学习</a:t>
            </a:r>
          </a:p>
          <a:p xmlns:a="http://schemas.openxmlformats.org/drawingml/2006/main">
            <a:pPr algn="l">
              <a:defRPr sz="2025" b="0">
                <a:solidFill>
                  <a:srgbClr val="263E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E57"/>
                </a:solidFill>
                <a:latin typeface="Microsoft YaHei"/>
                <a:ea typeface="Microsoft YaHei"/>
                <a:cs typeface="Microsoft YaHei"/>
              </a:rPr>
              <a:t>可作为可解释的基础模型</a:t>
            </a:r>
          </a:p>
        </p:txBody>
      </p:sp>
      <p:sp>
        <p:nvSpPr>
          <p:cNvPr id="6" name="slide-13-point-2">
            <a:extLst xmlns:a="http://schemas.openxmlformats.org/drawingml/2006/main">
              <a:ext uri="{FF2B5EF4-FFF2-40B4-BE49-F238E27FC236}">
                <a16:creationId xmlns:a16="http://schemas.microsoft.com/office/drawing/2014/main" id="{25976F54-5177-4C60-A23A-6EA7095D3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90975"/>
            <a:ext cx="6715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63E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E57"/>
                </a:solidFill>
                <a:latin typeface="Microsoft YaHei"/>
                <a:ea typeface="Microsoft YaHei"/>
                <a:cs typeface="Microsoft YaHei"/>
              </a:rPr>
              <a:t>2. 不同点：目标、输出含义、训练损失与评价指标</a:t>
            </a:r>
          </a:p>
        </p:txBody>
      </p:sp>
      <p:sp>
        <p:nvSpPr>
          <p:cNvPr id="7" name="slide-13-point-3">
            <a:extLst xmlns:a="http://schemas.openxmlformats.org/drawingml/2006/main">
              <a:ext uri="{FF2B5EF4-FFF2-40B4-BE49-F238E27FC236}">
                <a16:creationId xmlns:a16="http://schemas.microsoft.com/office/drawing/2014/main" id="{CFF81722-06DC-4FBE-B42D-35884CE7B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5800"/>
            <a:ext cx="6715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63E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E57"/>
                </a:solidFill>
                <a:latin typeface="Microsoft YaHei"/>
                <a:ea typeface="Microsoft YaHei"/>
                <a:cs typeface="Microsoft YaHei"/>
              </a:rPr>
              <a:t>3. 限制：异常值、特征关系、正则化、概率校准与外推</a:t>
            </a:r>
          </a:p>
        </p:txBody>
      </p:sp>
      <p:sp>
        <p:nvSpPr>
          <p:cNvPr id="8" name="slide-13-visual-label">
            <a:extLst xmlns:a="http://schemas.openxmlformats.org/drawingml/2006/main">
              <a:ext uri="{FF2B5EF4-FFF2-40B4-BE49-F238E27FC236}">
                <a16:creationId xmlns:a16="http://schemas.microsoft.com/office/drawing/2014/main" id="{3131E952-F707-4CFE-A39A-0B2B8474D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686050"/>
            <a:ext cx="3409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87D88"/>
                </a:solidFill>
                <a:latin typeface="Microsoft YaHei"/>
                <a:ea typeface="Microsoft YaHei"/>
                <a:cs typeface="Microsoft YaHei"/>
              </a:defRPr>
            </a:pPr>
            <a:r>
              <a:t>本页要点</a:t>
            </a:r>
          </a:p>
        </p:txBody>
      </p:sp>
      <p:sp>
        <p:nvSpPr>
          <p:cNvPr id="9" name="slide-13-visual">
            <a:extLst xmlns:a="http://schemas.openxmlformats.org/drawingml/2006/main">
              <a:ext uri="{FF2B5EF4-FFF2-40B4-BE49-F238E27FC236}">
                <a16:creationId xmlns:a16="http://schemas.microsoft.com/office/drawing/2014/main" id="{7BB2C685-B66C-41F3-A17E-C18C834B8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62300"/>
            <a:ext cx="34099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00" b="0">
                <a:solidFill>
                  <a:srgbClr val="152139"/>
                </a:solidFill>
                <a:latin typeface="Microsoft YaHei"/>
                <a:ea typeface="Microsoft YaHei"/>
                <a:cs typeface="Microsoft YaHei"/>
              </a:defRPr>
            </a:pPr>
            <a:r>
              <a:t>同：线性加权 + 可学</a:t>
            </a:r>
          </a:p>
          <a:p xmlns:a="http://schemas.openxmlformats.org/drawingml/2006/main">
            <a:pPr>
              <a:defRPr sz="1300">
                <a:solidFill>
                  <a:srgbClr val="152139"/>
                </a:solidFill>
                <a:latin typeface="Microsoft YaHei"/>
              </a:defRPr>
            </a:pPr>
            <a:r>
              <a:t>异：数值 vs 概率</a:t>
            </a:r>
          </a:p>
          <a:p xmlns:a="http://schemas.openxmlformats.org/drawingml/2006/main">
            <a:pPr>
              <a:defRPr sz="1300">
                <a:solidFill>
                  <a:srgbClr val="152139"/>
                </a:solidFill>
                <a:latin typeface="Microsoft YaHei"/>
              </a:defRPr>
            </a:pPr>
            <a:r>
              <a:t>适合作为可解释基线</a:t>
            </a:r>
          </a:p>
          <a:p xmlns:a="http://schemas.openxmlformats.org/drawingml/2006/main">
            <a:pPr>
              <a:defRPr sz="1300">
                <a:solidFill>
                  <a:srgbClr val="152139"/>
                </a:solidFill>
                <a:latin typeface="Microsoft YaHei"/>
              </a:defRPr>
            </a:pPr>
            <a:r>
              <a:t>不够用再加复杂度</a:t>
            </a:r>
          </a:p>
        </p:txBody>
      </p:sp>
      <p:sp>
        <p:nvSpPr>
          <p:cNvPr id="10" name="slide-13-timing">
            <a:extLst xmlns:a="http://schemas.openxmlformats.org/drawingml/2006/main">
              <a:ext uri="{FF2B5EF4-FFF2-40B4-BE49-F238E27FC236}">
                <a16:creationId xmlns:a16="http://schemas.microsoft.com/office/drawing/2014/main" id="{3228EABD-580F-4C63-BDD3-371A655B5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378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3788D"/>
                </a:solidFill>
                <a:latin typeface="Microsoft YaHei"/>
                <a:ea typeface="Microsoft YaHei"/>
                <a:cs typeface="Microsoft YaHei"/>
              </a:rPr>
              <a:t>15:50 至 16:50    本页 60 秒</a:t>
            </a:r>
          </a:p>
        </p:txBody>
      </p:sp>
      <p:sp>
        <p:nvSpPr>
          <p:cNvPr id="11" name="slide-13-page">
            <a:extLst xmlns:a="http://schemas.openxmlformats.org/drawingml/2006/main">
              <a:ext uri="{FF2B5EF4-FFF2-40B4-BE49-F238E27FC236}">
                <a16:creationId xmlns:a16="http://schemas.microsoft.com/office/drawing/2014/main" id="{E68D2E72-85D0-4C06-994A-BD46BF1BB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286500"/>
            <a:ext cx="1219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6378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3788D"/>
                </a:solidFill>
                <a:latin typeface="Microsoft YaHei"/>
                <a:ea typeface="Microsoft YaHei"/>
                <a:cs typeface="Microsoft YaHei"/>
              </a:rPr>
              <a:t>13 / 14</a:t>
            </a:r>
          </a:p>
        </p:txBody>
      </p:sp>
    </p:spTree>
    <p:extLst>
      <p:ext uri="{BB962C8B-B14F-4D97-AF65-F5344CB8AC3E}">
        <p14:creationId xmlns:p14="http://schemas.microsoft.com/office/powerpoint/2010/main" val="98427385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14-title">
            <a:extLst xmlns:a="http://schemas.openxmlformats.org/drawingml/2006/main">
              <a:ext uri="{FF2B5EF4-FFF2-40B4-BE49-F238E27FC236}">
                <a16:creationId xmlns:a16="http://schemas.microsoft.com/office/drawing/2014/main" id="{B0AC985A-44A9-497B-AD1A-4BF15805C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02F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02F52"/>
                </a:solidFill>
                <a:latin typeface="Microsoft YaHei"/>
                <a:ea typeface="Microsoft YaHei"/>
                <a:cs typeface="Microsoft YaHei"/>
              </a:rPr>
              <a:t>总结与提问</a:t>
            </a:r>
          </a:p>
        </p:txBody>
      </p:sp>
      <p:sp>
        <p:nvSpPr>
          <p:cNvPr id="2" name="slide-14-goal-label">
            <a:extLst xmlns:a="http://schemas.openxmlformats.org/drawingml/2006/main">
              <a:ext uri="{FF2B5EF4-FFF2-40B4-BE49-F238E27FC236}">
                <a16:creationId xmlns:a16="http://schemas.microsoft.com/office/drawing/2014/main" id="{1C8C92C5-81F6-47A8-B6F8-EBC28FDD5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81175"/>
            <a:ext cx="133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87D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87D88"/>
                </a:solidFill>
                <a:latin typeface="Microsoft YaHei"/>
                <a:ea typeface="Microsoft YaHei"/>
                <a:cs typeface="Microsoft YaHei"/>
              </a:rPr>
              <a:t>本页目标</a:t>
            </a:r>
          </a:p>
        </p:txBody>
      </p:sp>
      <p:sp>
        <p:nvSpPr>
          <p:cNvPr id="3" name="slide-14-goal">
            <a:extLst xmlns:a="http://schemas.openxmlformats.org/drawingml/2006/main">
              <a:ext uri="{FF2B5EF4-FFF2-40B4-BE49-F238E27FC236}">
                <a16:creationId xmlns:a16="http://schemas.microsoft.com/office/drawing/2014/main" id="{AF19BA0F-8279-4382-BAF4-FE8824424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1733550"/>
            <a:ext cx="93916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63E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E57"/>
                </a:solidFill>
                <a:latin typeface="Microsoft YaHei"/>
                <a:ea typeface="Microsoft YaHei"/>
                <a:cs typeface="Microsoft YaHei"/>
              </a:rPr>
              <a:t>用三道判断题回收知识，给出一条完整方法链。</a:t>
            </a:r>
          </a:p>
        </p:txBody>
      </p:sp>
      <p:sp>
        <p:nvSpPr>
          <p:cNvPr id="4" name="slide-14-points-label">
            <a:extLst xmlns:a="http://schemas.openxmlformats.org/drawingml/2006/main">
              <a:ext uri="{FF2B5EF4-FFF2-40B4-BE49-F238E27FC236}">
                <a16:creationId xmlns:a16="http://schemas.microsoft.com/office/drawing/2014/main" id="{84403B14-2D77-4594-B237-FB5DC7709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647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87D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87D88"/>
                </a:solidFill>
                <a:latin typeface="Microsoft YaHei"/>
                <a:ea typeface="Microsoft YaHei"/>
                <a:cs typeface="Microsoft YaHei"/>
              </a:rPr>
              <a:t>讲述顺序</a:t>
            </a:r>
          </a:p>
        </p:txBody>
      </p:sp>
      <p:sp>
        <p:nvSpPr>
          <p:cNvPr id="5" name="slide-14-point-1">
            <a:extLst xmlns:a="http://schemas.openxmlformats.org/drawingml/2006/main">
              <a:ext uri="{FF2B5EF4-FFF2-40B4-BE49-F238E27FC236}">
                <a16:creationId xmlns:a16="http://schemas.microsoft.com/office/drawing/2014/main" id="{5565C7D2-ECAB-4C01-80E0-FF7D7AF5A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6715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63E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E57"/>
                </a:solidFill>
                <a:latin typeface="Microsoft YaHei"/>
                <a:ea typeface="Microsoft YaHei"/>
                <a:cs typeface="Microsoft YaHei"/>
              </a:rPr>
              <a:t>1. 预测多少：线性回归；预测类别概率：逻辑回归</a:t>
            </a:r>
          </a:p>
        </p:txBody>
      </p:sp>
      <p:sp>
        <p:nvSpPr>
          <p:cNvPr id="6" name="slide-14-point-2">
            <a:extLst xmlns:a="http://schemas.openxmlformats.org/drawingml/2006/main">
              <a:ext uri="{FF2B5EF4-FFF2-40B4-BE49-F238E27FC236}">
                <a16:creationId xmlns:a16="http://schemas.microsoft.com/office/drawing/2014/main" id="{CB01DD91-3186-432A-9579-B09D072FA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67125"/>
            <a:ext cx="6715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63E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E57"/>
                </a:solidFill>
                <a:latin typeface="Microsoft YaHei"/>
                <a:ea typeface="Microsoft YaHei"/>
                <a:cs typeface="Microsoft YaHei"/>
              </a:rPr>
              <a:t>2. 模型→损失→优化→决策→评价，串起完整学习过程</a:t>
            </a:r>
          </a:p>
        </p:txBody>
      </p:sp>
      <p:sp>
        <p:nvSpPr>
          <p:cNvPr id="7" name="slide-14-point-3">
            <a:extLst xmlns:a="http://schemas.openxmlformats.org/drawingml/2006/main">
              <a:ext uri="{FF2B5EF4-FFF2-40B4-BE49-F238E27FC236}">
                <a16:creationId xmlns:a16="http://schemas.microsoft.com/office/drawing/2014/main" id="{97DF5CF5-3D49-4184-A85D-BD7EEAF4F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6715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63E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E57"/>
                </a:solidFill>
                <a:latin typeface="Microsoft YaHei"/>
                <a:ea typeface="Microsoft YaHei"/>
                <a:cs typeface="Microsoft YaHei"/>
              </a:rPr>
              <a:t>3. 以短问题复盘，并为20分钟版本预留问答扩展</a:t>
            </a:r>
          </a:p>
        </p:txBody>
      </p:sp>
      <p:sp>
        <p:nvSpPr>
          <p:cNvPr id="8" name="slide-14-visual-label">
            <a:extLst xmlns:a="http://schemas.openxmlformats.org/drawingml/2006/main">
              <a:ext uri="{FF2B5EF4-FFF2-40B4-BE49-F238E27FC236}">
                <a16:creationId xmlns:a16="http://schemas.microsoft.com/office/drawing/2014/main" id="{4C2F40BA-4FFC-4DD4-A582-B9457BA89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686050"/>
            <a:ext cx="3409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87D88"/>
                </a:solidFill>
                <a:latin typeface="Microsoft YaHei"/>
                <a:ea typeface="Microsoft YaHei"/>
                <a:cs typeface="Microsoft YaHei"/>
              </a:defRPr>
            </a:pPr>
            <a:r>
              <a:t>本页要点</a:t>
            </a:r>
          </a:p>
        </p:txBody>
      </p:sp>
      <p:sp>
        <p:nvSpPr>
          <p:cNvPr id="9" name="slide-14-visual">
            <a:extLst xmlns:a="http://schemas.openxmlformats.org/drawingml/2006/main">
              <a:ext uri="{FF2B5EF4-FFF2-40B4-BE49-F238E27FC236}">
                <a16:creationId xmlns:a16="http://schemas.microsoft.com/office/drawing/2014/main" id="{D5FE3169-4C15-4841-8F17-8AB2670BE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62300"/>
            <a:ext cx="34099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00" b="0">
                <a:solidFill>
                  <a:srgbClr val="152139"/>
                </a:solidFill>
                <a:latin typeface="Microsoft YaHei"/>
                <a:ea typeface="Microsoft YaHei"/>
                <a:cs typeface="Microsoft YaHei"/>
              </a:defRPr>
            </a:pPr>
            <a:r>
              <a:t>任务 → 模型 → 损失</a:t>
            </a:r>
          </a:p>
          <a:p xmlns:a="http://schemas.openxmlformats.org/drawingml/2006/main">
            <a:pPr>
              <a:defRPr sz="1300">
                <a:solidFill>
                  <a:srgbClr val="152139"/>
                </a:solidFill>
                <a:latin typeface="Microsoft YaHei"/>
              </a:defRPr>
            </a:pPr>
            <a:r>
              <a:t>→ 优化 → 阈值</a:t>
            </a:r>
          </a:p>
          <a:p xmlns:a="http://schemas.openxmlformats.org/drawingml/2006/main">
            <a:pPr>
              <a:defRPr sz="1300">
                <a:solidFill>
                  <a:srgbClr val="152139"/>
                </a:solidFill>
                <a:latin typeface="Microsoft YaHei"/>
              </a:defRPr>
            </a:pPr>
            <a:r>
              <a:t>→ 未见数据评价</a:t>
            </a:r>
          </a:p>
          <a:p xmlns:a="http://schemas.openxmlformats.org/drawingml/2006/main">
            <a:pPr>
              <a:defRPr sz="1300">
                <a:solidFill>
                  <a:srgbClr val="152139"/>
                </a:solidFill>
                <a:latin typeface="Microsoft YaHei"/>
              </a:defRPr>
            </a:pPr>
            <a:r>
              <a:t>三问回收主线</a:t>
            </a:r>
          </a:p>
        </p:txBody>
      </p:sp>
      <p:sp>
        <p:nvSpPr>
          <p:cNvPr id="10" name="slide-14-timing">
            <a:extLst xmlns:a="http://schemas.openxmlformats.org/drawingml/2006/main">
              <a:ext uri="{FF2B5EF4-FFF2-40B4-BE49-F238E27FC236}">
                <a16:creationId xmlns:a16="http://schemas.microsoft.com/office/drawing/2014/main" id="{4A947A60-6F60-4A47-A927-02C967137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378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3788D"/>
                </a:solidFill>
                <a:latin typeface="Microsoft YaHei"/>
                <a:ea typeface="Microsoft YaHei"/>
                <a:cs typeface="Microsoft YaHei"/>
              </a:rPr>
              <a:t>16:50 至 18:00    本页 70 秒</a:t>
            </a:r>
          </a:p>
        </p:txBody>
      </p:sp>
      <p:sp>
        <p:nvSpPr>
          <p:cNvPr id="11" name="slide-14-page">
            <a:extLst xmlns:a="http://schemas.openxmlformats.org/drawingml/2006/main">
              <a:ext uri="{FF2B5EF4-FFF2-40B4-BE49-F238E27FC236}">
                <a16:creationId xmlns:a16="http://schemas.microsoft.com/office/drawing/2014/main" id="{2A23BBEE-340A-4763-AB8D-A95B91AF3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286500"/>
            <a:ext cx="1219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6378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3788D"/>
                </a:solidFill>
                <a:latin typeface="Microsoft YaHei"/>
                <a:ea typeface="Microsoft YaHei"/>
                <a:cs typeface="Microsoft YaHei"/>
              </a:rPr>
              <a:t>14 / 14</a:t>
            </a:r>
          </a:p>
        </p:txBody>
      </p:sp>
    </p:spTree>
    <p:extLst>
      <p:ext uri="{BB962C8B-B14F-4D97-AF65-F5344CB8AC3E}">
        <p14:creationId xmlns:p14="http://schemas.microsoft.com/office/powerpoint/2010/main" val="87803885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2026-09-12T06:33:56.2780000Z</dcterms:created>
  <dcterms:modified xsi:type="dcterms:W3CDTF">2026-09-12T06:33:56.2780000Z</dcterms:modified>
</coreProperties>
</file>