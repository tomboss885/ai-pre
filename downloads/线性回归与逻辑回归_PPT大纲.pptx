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f38494fb5e4b54" /><Relationship Type="http://schemas.openxmlformats.org/officeDocument/2006/relationships/extended-properties" Target="/docProps/app.xml" Id="R21a201510def4b54" /><Relationship Type="http://schemas.openxmlformats.org/officeDocument/2006/relationships/officeDocument" Target="/ppt/presentation.xml" Id="R9a6fa953879a41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254e5d1aa54db7"/>
  </p:sldMasterIdLst>
  <p:notesMasterIdLst>
    <p:notesMasterId xmlns:r="http://schemas.openxmlformats.org/officeDocument/2006/relationships" r:id="Ra9b576c6dbfa4fc9"/>
  </p:notesMasterIdLst>
  <p:sldIdLst>
    <p:sldId xmlns:r="http://schemas.openxmlformats.org/officeDocument/2006/relationships" id="256" r:id="R802b77ed7dcb4388"/>
    <p:sldId xmlns:r="http://schemas.openxmlformats.org/officeDocument/2006/relationships" id="257" r:id="R69c96223284048db"/>
    <p:sldId xmlns:r="http://schemas.openxmlformats.org/officeDocument/2006/relationships" id="258" r:id="Rb57e7fcb58a74bd6"/>
    <p:sldId xmlns:r="http://schemas.openxmlformats.org/officeDocument/2006/relationships" id="259" r:id="R48d4769a30cd45a0"/>
    <p:sldId xmlns:r="http://schemas.openxmlformats.org/officeDocument/2006/relationships" id="260" r:id="R83a17ec06ed74dd4"/>
    <p:sldId xmlns:r="http://schemas.openxmlformats.org/officeDocument/2006/relationships" id="261" r:id="R6744afdb721c4842"/>
    <p:sldId xmlns:r="http://schemas.openxmlformats.org/officeDocument/2006/relationships" id="262" r:id="Rf5e88f66b204433d"/>
    <p:sldId xmlns:r="http://schemas.openxmlformats.org/officeDocument/2006/relationships" id="263" r:id="R52336176d7734f25"/>
    <p:sldId xmlns:r="http://schemas.openxmlformats.org/officeDocument/2006/relationships" id="264" r:id="Rabec18f881184216"/>
    <p:sldId xmlns:r="http://schemas.openxmlformats.org/officeDocument/2006/relationships" id="265" r:id="R5186388ca8894b22"/>
    <p:sldId xmlns:r="http://schemas.openxmlformats.org/officeDocument/2006/relationships" id="266" r:id="Rd6110f4d343545e9"/>
    <p:sldId xmlns:r="http://schemas.openxmlformats.org/officeDocument/2006/relationships" id="267" r:id="R312b7a9167684b3b"/>
    <p:sldId xmlns:r="http://schemas.openxmlformats.org/officeDocument/2006/relationships" id="268" r:id="R84a544e8a4d140aa"/>
    <p:sldId xmlns:r="http://schemas.openxmlformats.org/officeDocument/2006/relationships" id="269" r:id="Rca0a61ab1dbf49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e16c4b909a4f19" /><Relationship Type="http://schemas.openxmlformats.org/officeDocument/2006/relationships/slideMaster" Target="/ppt/slideMasters/slideMaster1.xml" Id="R05254e5d1aa54db7" /><Relationship Type="http://schemas.openxmlformats.org/officeDocument/2006/relationships/notesMaster" Target="/ppt/notesMasters/notesMaster1.xml" Id="Ra9b576c6dbfa4fc9" /><Relationship Type="http://schemas.openxmlformats.org/officeDocument/2006/relationships/presProps" Target="/ppt/presProps.xml" Id="Ra6d53af7ec3b4fc4" /><Relationship Type="http://schemas.openxmlformats.org/officeDocument/2006/relationships/tableStyles" Target="/ppt/tableStyles.xml" Id="R957422b2855a483b" /><Relationship Type="http://schemas.openxmlformats.org/officeDocument/2006/relationships/slide" Target="/ppt/slides/slide1.xml" Id="R802b77ed7dcb4388" /><Relationship Type="http://schemas.openxmlformats.org/officeDocument/2006/relationships/slide" Target="/ppt/slides/slide2.xml" Id="R69c96223284048db" /><Relationship Type="http://schemas.openxmlformats.org/officeDocument/2006/relationships/slide" Target="/ppt/slides/slide3.xml" Id="Rb57e7fcb58a74bd6" /><Relationship Type="http://schemas.openxmlformats.org/officeDocument/2006/relationships/slide" Target="/ppt/slides/slide4.xml" Id="R48d4769a30cd45a0" /><Relationship Type="http://schemas.openxmlformats.org/officeDocument/2006/relationships/slide" Target="/ppt/slides/slide5.xml" Id="R83a17ec06ed74dd4" /><Relationship Type="http://schemas.openxmlformats.org/officeDocument/2006/relationships/slide" Target="/ppt/slides/slide6.xml" Id="R6744afdb721c4842" /><Relationship Type="http://schemas.openxmlformats.org/officeDocument/2006/relationships/slide" Target="/ppt/slides/slide7.xml" Id="Rf5e88f66b204433d" /><Relationship Type="http://schemas.openxmlformats.org/officeDocument/2006/relationships/slide" Target="/ppt/slides/slide8.xml" Id="R52336176d7734f25" /><Relationship Type="http://schemas.openxmlformats.org/officeDocument/2006/relationships/slide" Target="/ppt/slides/slide9.xml" Id="Rabec18f881184216" /><Relationship Type="http://schemas.openxmlformats.org/officeDocument/2006/relationships/slide" Target="/ppt/slides/slide10.xml" Id="R5186388ca8894b22" /><Relationship Type="http://schemas.openxmlformats.org/officeDocument/2006/relationships/slide" Target="/ppt/slides/slide11.xml" Id="Rd6110f4d343545e9" /><Relationship Type="http://schemas.openxmlformats.org/officeDocument/2006/relationships/slide" Target="/ppt/slides/slide12.xml" Id="R312b7a9167684b3b" /><Relationship Type="http://schemas.openxmlformats.org/officeDocument/2006/relationships/slide" Target="/ppt/slides/slide13.xml" Id="R84a544e8a4d140aa" /><Relationship Type="http://schemas.openxmlformats.org/officeDocument/2006/relationships/slide" Target="/ppt/slides/slide14.xml" Id="Rca0a61ab1dbf49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4f65414fc346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46d7ef0c904468" /><Relationship Type="http://schemas.openxmlformats.org/officeDocument/2006/relationships/notesMaster" Target="/ppt/notesMasters/notesMaster1.xml" Id="R78457f30e0894d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b89d4f3ca04fa1" /><Relationship Type="http://schemas.openxmlformats.org/officeDocument/2006/relationships/notesMaster" Target="/ppt/notesMasters/notesMaster1.xml" Id="R4af9838cee4846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a15fddf23b43b4" /><Relationship Type="http://schemas.openxmlformats.org/officeDocument/2006/relationships/notesMaster" Target="/ppt/notesMasters/notesMaster1.xml" Id="R72cdc8f75f1741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f4943f34a24b7a" /><Relationship Type="http://schemas.openxmlformats.org/officeDocument/2006/relationships/notesMaster" Target="/ppt/notesMasters/notesMaster1.xml" Id="R7a709259bf8b4c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c2e5de61804257" /><Relationship Type="http://schemas.openxmlformats.org/officeDocument/2006/relationships/notesMaster" Target="/ppt/notesMasters/notesMaster1.xml" Id="R8837330161cf45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08ec0520e44a7a" /><Relationship Type="http://schemas.openxmlformats.org/officeDocument/2006/relationships/notesMaster" Target="/ppt/notesMasters/notesMaster1.xml" Id="R4374f8fbc93c47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b6d579e1864dff" /><Relationship Type="http://schemas.openxmlformats.org/officeDocument/2006/relationships/notesMaster" Target="/ppt/notesMasters/notesMaster1.xml" Id="Rdbd62d941c1d44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6b85dc1ac64e30" /><Relationship Type="http://schemas.openxmlformats.org/officeDocument/2006/relationships/notesMaster" Target="/ppt/notesMasters/notesMaster1.xml" Id="Ra25c4d892b6444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5f410e770c4faf" /><Relationship Type="http://schemas.openxmlformats.org/officeDocument/2006/relationships/notesMaster" Target="/ppt/notesMasters/notesMaster1.xml" Id="R5bbc9dd0d14742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44461ef79c457c" /><Relationship Type="http://schemas.openxmlformats.org/officeDocument/2006/relationships/notesMaster" Target="/ppt/notesMasters/notesMaster1.xml" Id="R752b4f7c1d8d42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6c415dff5f4ef1" /><Relationship Type="http://schemas.openxmlformats.org/officeDocument/2006/relationships/notesMaster" Target="/ppt/notesMasters/notesMaster1.xml" Id="R7c55ebd75e6f44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b6a9670d364ca1" /><Relationship Type="http://schemas.openxmlformats.org/officeDocument/2006/relationships/notesMaster" Target="/ppt/notesMasters/notesMaster1.xml" Id="Rb6266876a5e6412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3249e1517f4ed4" /><Relationship Type="http://schemas.openxmlformats.org/officeDocument/2006/relationships/notesMaster" Target="/ppt/notesMasters/notesMaster1.xml" Id="Re4b23af13c264b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b5c2fb694cf4dd3" /><Relationship Type="http://schemas.openxmlformats.org/officeDocument/2006/relationships/notesMaster" Target="/ppt/notesMasters/notesMaster1.xml" Id="R0ed84939cec143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建议时长：45秒</a:t>
            </a:r>
          </a:p>
          <a:p xmlns:a="http://schemas.openxmlformats.org/drawingml/2006/main">
            <a:r>
              <a:t>时间段：00:00 至 00:45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大家好，我们小组今天介绍线性回归和逻辑回归。先看一个熟悉的场景：如果知道一名同学的学习时长，我们能不能预测他的考试分数？如果问题换成，他这次能不能通过考试，模型又该怎样变化？前一个问题要回答一个数值，后一个问题要回答一个类别。我们会沿着这两个问题，把模型、训练和评价串起来。今天所有学生数据都由程序模拟，只用于理解算法，不能据此推断真实的学习效果，更不能给同学贴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演示与转场：停留在两张问题卡上，强调“数值”和“类别”；不先展示公式。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https://developers.google.com/machine-learning/crash-course/linear-regression</a:t>
            </a:r>
          </a:p>
          <a:p xmlns:a="http://schemas.openxmlformats.org/drawingml/2006/main">
            <a:r>
              <a:t>https://developers.google.com/machine-learning/crash-course/logistic-regression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建议时长：45秒</a:t>
            </a:r>
          </a:p>
          <a:p xmlns:a="http://schemas.openxmlformats.org/drawingml/2006/main">
            <a:r>
              <a:t>时间段：00:45 至 01:30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两个算法虽然回答的问题不同，但学习流程很相似。输入的信息叫特征，例如学习时长；希望模型预测的真实答案叫标签，例如分数，或者是否通过。模型先用一组参数给出预测，再通过损失函数衡量预测与标签的差距。训练就是反复调整参数，让训练数据上的损失减小。但是训练题做得好，不代表新题也做得好，所以还要用模型没有参与训练的数据检验效果。接下来我们先把这一套流程放在线性回归上，再把它迁移到逻辑回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演示与转场：沿流程图顺序指示；“测试集在训练循环外”只点明，不在此展开数据泄漏。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https://developers.google.com/machine-learning/crash-course/linear-regression</a:t>
            </a:r>
          </a:p>
          <a:p xmlns:a="http://schemas.openxmlformats.org/drawingml/2006/main">
            <a:r>
              <a:t>https://scikit-learn.org/stable/common_pitfalls.html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建议时长：75秒</a:t>
            </a:r>
          </a:p>
          <a:p xmlns:a="http://schemas.openxmlformats.org/drawingml/2006/main">
            <a:r>
              <a:t>时间段：01:30 至 02:45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每名同学画成一个点，横轴是学习时长，纵轴是考试分数。线性回归尝试找到一条能概括整体趋势的直线。单个特征时，预测值等于权重乘以特征，再加上偏置，也就是熟悉的斜率和截距。权重改变时，直线的倾斜程度变化；偏置改变时，直线整体上下移动。注意，我们寻找的是总体上的合适位置，不要求直线穿过每一个点，因为数据可能包含噪声和没有记录的因素。如果再加入练习完成率，就给这个新特征一个权重，把各项加起来。线性的核心是模型对这些参数保持线性；它不代表所有现实关系都天然是一条直线。图中即使出现正斜率，也只是模拟数据中的关系，不能直接解释成学习时间对成绩的因果作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演示与转场：先看图再解释参数；若本页临近75秒，略去“对参数线性”的补充例子。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https://developers.google.com/machine-learning/crash-course/linear-regression</a:t>
            </a:r>
          </a:p>
          <a:p xmlns:a="http://schemas.openxmlformats.org/drawingml/2006/main">
            <a:r>
              <a:t>https://scikit-learn.org/stable/modules/linear_model.html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建议时长：90秒</a:t>
            </a:r>
          </a:p>
          <a:p xmlns:a="http://schemas.openxmlformats.org/drawingml/2006/main">
            <a:r>
              <a:t>时间段：02:45 至 04:15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我们已经能画直线，但怎样判断哪一条更好？看同一个横坐标下，真实分数和预测分数的竖直差距，这个差叫残差。这里统一用预测值减真实值。残差有正有负，直接相加可能互相抵消，所以我们把每个残差平方，再求平均，得到均方误差，也就是MSE。平方会让大的偏差受到更重的惩罚，因此异常点可能明显拉动直线。现在请看网页：我先改变截距，再改变斜率，观察残差线和MSE怎样一起变化。我们不凭直觉选看起来最好看的线，而是用明确的目标比较。最后提醒，图中衡量的是竖直方向的预测误差，并不是点到直线的最短距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演示与转场：网页演示35秒：打开线性回归模块；调整截距约10秒、调整斜率约10秒；指出残差与MSE联动约10秒；恢复默认并转回PPT约5秒。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https://developers.google.com/machine-learning/crash-course/linear-regression/loss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建议时长：100秒</a:t>
            </a:r>
          </a:p>
          <a:p xmlns:a="http://schemas.openxmlformats.org/drawingml/2006/main">
            <a:r>
              <a:t>时间段：04:15 至 05:55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手动调参数很直观，但数据和参数一多，就需要算法自动寻找合适的位置。可以把损失想象成地形高度，权重和偏置决定我们站在哪里。梯度告诉我们当地上升最快的方向，因此沿相反方向走一小步，就有机会降低损失。这个步子有多大，由学习率控制。现在看演示：合适的学习率让损失逐渐降低；把学习率调得过大，参数可能来回跳动，甚至越来越远。学习率过小也不理想，因为下降会很慢。这里要区分两个概念：线性回归规定模型长什么样，梯度下降规定参数怎么学。线性回归也可以用最小二乘的数值方法求解，不是只能依靠梯度下降。我们展示这一步，是因为它还能帮助理解后面的逻辑回归和更多机器学习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演示与转场：网页演示40秒：重置后以正常学习率运行约15秒；重置后选过大学习率运行约15秒；比较损失轨迹并恢复约10秒。不要在台上等待训练很久。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https://developers.google.com/machine-learning/crash-course/linear-regression/gradient-descent</a:t>
            </a:r>
          </a:p>
          <a:p xmlns:a="http://schemas.openxmlformats.org/drawingml/2006/main">
            <a:r>
              <a:t>https://developers.google.com/machine-learning/crash-course/linear-regression/hyperparameters</a:t>
            </a:r>
          </a:p>
          <a:p xmlns:a="http://schemas.openxmlformats.org/drawingml/2006/main">
            <a:r>
              <a:t>https://scikit-learn.org/stable/modules/linear_model.html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建议时长：50秒</a:t>
            </a:r>
          </a:p>
          <a:p xmlns:a="http://schemas.openxmlformats.org/drawingml/2006/main">
            <a:r>
              <a:t>时间段：05:55 至 06:45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把问题从能考多少分，换成能不能通过。我们约定通过为一，也就是正类；未通过为零，也就是负类。这里的正负只是编码，没有好坏评价。能不能直接把这两个数字交给普通线性回归？可以计算，但直线的输出可能小于零或大于一，不适合直接当作概率。我们需要一个面向二分类的概率模型。逻辑回归保留线性加权这一步，再把结果转换成零到一之间的概率，最后按阈值作分类决定。它名称里有回归，却经常用于分类；这也是最容易混淆的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演示与转场：保持“通过=正类”标注，后续混淆矩阵与阈值演示沿用同一定义。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https://developers.google.com/machine-learning/crash-course/logistic-regression</a:t>
            </a:r>
          </a:p>
          <a:p xmlns:a="http://schemas.openxmlformats.org/drawingml/2006/main">
            <a:r>
              <a:t>https://developers.google.com/machine-learning/crash-course/logistic-regression/sigmoid-function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建议时长：90秒</a:t>
            </a:r>
          </a:p>
          <a:p xmlns:a="http://schemas.openxmlformats.org/drawingml/2006/main">
            <a:r>
              <a:t>时间段：06:45 至 08:15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逻辑回归首先计算一个线性分数，记作z，再交给Sigmoid函数。这个函数画出来像一个平滑的S，把任意实数映射到零和一之间。我们可以把输出理解成模型估计的通过概率。当z等于零，概率正好是零点五；z越大，概率越接近一；z越小，概率越接近零。现在移动滑块，看看同一个线性分数怎样变成概率。曲线中间变化比较快，两端逐渐平缓。注意，零点八的通过概率不是预测得八十分，也不是保证这个人一定通过。它是模型在已有信息下给出的估计。输出落在零到一之间，只解决了数值范围问题，概率是否可靠，还要用新的数据检查。下一步，我们需要一种能训练这些概率的损失函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演示与转场：网页演示30秒：选择z=0，指出p=0.5；分别向正负方向拖动；指出曲线中段与两端变化；不要把概率读作分数。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https://developers.google.com/machine-learning/crash-course/logistic-regression/sigmoid-function</a:t>
            </a:r>
          </a:p>
          <a:p xmlns:a="http://schemas.openxmlformats.org/drawingml/2006/main">
            <a:r>
              <a:t>https://scikit-learn.org/stable/modules/calibration.html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建议时长：75秒</a:t>
            </a:r>
          </a:p>
          <a:p xmlns:a="http://schemas.openxmlformats.org/drawingml/2006/main">
            <a:r>
              <a:t>时间段：08:15 至 09:30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逻辑回归通常使用二元交叉熵，也叫对数损失。它的直觉是，让模型为真正发生的结果分配较高概率。如果真实标签是通过，预测通过概率越接近一，损失越小；如果真实标签是未通过，预测通过概率越接近零，损失越小。比如同样面对一个通过的模拟样本，预测零点九通常比零点六受到的惩罚小，而预测零点零一，意味着模型非常自信地判断错了，会受到很大的惩罚。把所有样本的损失求平均，就得到训练目标。它可以从伯努利分布的最大似然估计推导出来，今天先掌握这个直觉。随后仍然通过优化算法更新权重和偏置；需要时再加入正则化，限制过大的参数，帮助控制过拟合。分类阈值通常不参与这一步训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演示与转场：只比较三张概率卡，不逐项展开对数计算；强调“训练概率”和“选分类阈值”是两步。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https://developers.google.com/machine-learning/crash-course/logistic-regression/loss-regularization</a:t>
            </a:r>
          </a:p>
          <a:p xmlns:a="http://schemas.openxmlformats.org/drawingml/2006/main">
            <a:r>
              <a:t>https://scikit-learn.org/stable/modules/linear_model.html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建议时长：100秒</a:t>
            </a:r>
          </a:p>
          <a:p xmlns:a="http://schemas.openxmlformats.org/drawingml/2006/main">
            <a:r>
              <a:t>时间段：09:30 至 11:10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得到概率后，还要设置阈值，才能输出通过或未通过。今天约定，概率大于或等于阈值，就判为通过。零点五是常用起点，但不是所有任务的最佳选择。把预测和真实标签交叉比较，会出现四种结果：通过且预测通过，是真正例；未通过却预测通过，是假正例；通过却预测未通过，是假负例；两边都未通过，是真负例。现在保持模型不变，只调整阈值。降低阈值，会把更多样本判为通过，真正例和假正例都不会减少；提高阈值，则会减少或保持预测通过的人数，同时可能漏掉更多真正通过的样本。阈值选择取决于我们更在意哪种错误，要在验证数据上比较。不能看着测试集不断调阈值，否则最终成绩会变得过于乐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演示与转场：网页演示35秒：阈值按0.5→0.3→0.7切换，每次指出预测类别与矩阵联动；强调概率本身未变；最后恢复0.5。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https://developers.google.com/machine-learning/crash-course/classification/thresholding</a:t>
            </a:r>
          </a:p>
          <a:p xmlns:a="http://schemas.openxmlformats.org/drawingml/2006/main">
            <a:r>
              <a:t>https://scikit-learn.org/stable/common_pitfalls.html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建议时长：100秒</a:t>
            </a:r>
          </a:p>
          <a:p xmlns:a="http://schemas.openxmlformats.org/drawingml/2006/main">
            <a:r>
              <a:t>时间段：11:10 至 12:50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刚才只有一个特征，分类边界可以表现为数轴上的一个位置。如果再加入练习完成率，每个同学就变成二维平面上的一个点。逻辑回归把两个特征分别乘以权重，再加上偏置，得到线性分数。在零点五阈值下，分数等于零的位置就是决策边界；在二维图里，它通常是一条直线。两边分别对应预测通过和预测未通过。如果固定参数，只改变阈值，边界的位置会移动，概率估计没有重新训练。这里有一个很关键的区别：Sigmoid图像虽然是曲线，但标准逻辑回归在原始特征空间里的决策边界仍然是线性的。因此，当两类样本呈现环形包围等复杂关系时，一条直线可能分不开。可以引入多项式等特征变换，也可以考虑其他模型；不过复杂度提高后，仍然需要验证效果。我们不能因为某一条边界在训练图上更漂亮，就判断它一定更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演示与转场：不增加网页操作时长；使用预先截取的默认边界图。按“特征平面→直线→非线性反例”依次讲解。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https://developers.google.com/machine-learning/crash-course/logistic-regression/sigmoid-function</a:t>
            </a:r>
          </a:p>
          <a:p xmlns:a="http://schemas.openxmlformats.org/drawingml/2006/main">
            <a:r>
              <a:t>https://scikit-learn.org/stable/modules/linear_model.html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建议时长：90秒</a:t>
            </a:r>
          </a:p>
          <a:p xmlns:a="http://schemas.openxmlformats.org/drawingml/2006/main">
            <a:r>
              <a:t>时间段：12:50 至 14:20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训练完成以后，评价指标也必须匹配任务。对于分数预测，我们关注到底差了多少。MAE是绝对误差的平均值，RMSE对大误差更敏感，而且它们都能用分数的单位解释。R平方反映相对于评价数据均值基线的表现，通常最高是一，也可能小于零，所以不能把它直接当作准确率。对于是否通过，我们可以看准确率，但如果模拟数据里一百人有九十五人通过，全部猜通过也有百分之九十五的准确率，却完全识别不出未通过的人。因此还要结合混淆矩阵：精确率问，预测通过的人里有多少真的通过；召回率问，真正通过的人里找出了多少；F一综合考虑这两者。此外，类别判得对不对与概率估得准不准也不完全相同，对数损失可以评价概率预测。选哪些指标，应由任务和错误代价决定，不能只挑一个好看的数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演示与转场：明确精确率/召回率仍以“通过”为正类；R²负值只讲一句，不推导。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https://developers.google.com/machine-learning/crash-course/classification/accuracy-precision-recall</a:t>
            </a:r>
          </a:p>
          <a:p xmlns:a="http://schemas.openxmlformats.org/drawingml/2006/main">
            <a:r>
              <a:t>https://scikit-learn.org/stable/modules/model_evaluation.html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建议时长：90秒</a:t>
            </a:r>
          </a:p>
          <a:p xmlns:a="http://schemas.openxmlformats.org/drawingml/2006/main">
            <a:r>
              <a:t>时间段：14:20 至 15:50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我们课后真正做一次小实验，流程应该怎样安排？首先明确特征和标签，固定一份教学模拟数据，并记录生成方式与随机种子。接着把数据分成训练集、验证集和测试集；这里可以用六比二比二作为演示比例，但真实任务没有统一的最佳比例。如果同一个人有多条记录，或者要预测未来，还要考虑按人或按时间划分。然后建立简单基线，例如回归先预测训练集平均分，分类先使用训练集多数类别。需要标准化时，均值和方差只能从训练集学习，再用于其他集合。接下来训练模型，在验证集上选择设置与分类阈值，最后才查看测试集表现。结果表要写清楚用了什么数据、怎样划分、用了哪些指标。我们目前展示的是学习框架，不会把没有运行的实验结果编成真实结论。良好的汇报，不仅解释算法，也说明证据是怎样得到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演示与转场：展示空白结果表时把“待运行”标清楚；强调先划分、再拟合预处理。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https://scikit-learn.org/stable/common_pitfalls.html</a:t>
            </a:r>
          </a:p>
          <a:p xmlns:a="http://schemas.openxmlformats.org/drawingml/2006/main">
            <a:r>
              <a:t>https://scikit-learn.org/stable/modules/cross_validation.html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建议时长：60秒</a:t>
            </a:r>
          </a:p>
          <a:p xmlns:a="http://schemas.openxmlformats.org/drawingml/2006/main">
            <a:r>
              <a:t>时间段：15:50 至 16:50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两种算法放在一起，共同点很清楚：它们都从特征的线性加权出发，都需要通过数据学习参数。主要区别在输出和目标。线性回归直接预测连续数值，常用均方误差训练；逻辑回归先预测类别概率，常用交叉熵训练，再用阈值得到类别。它们计算和解释相对方便，适合作为建模的起点，但也有边界。线性回归可能受到异常点影响，超出数据范围的外推要谨慎；逻辑回归在原始特征中通常只能给出线性边界，输出概率也需要检验。是否增加特征、加入正则化，或者换更复杂的模型，应该由验证结果支持，而不是根据算法名字是否高级来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演示与转场：按“共同点→核心不同→何时不够用”读表，不逐字朗读整张表。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https://scikit-learn.org/stable/modules/linear_model.html</a:t>
            </a:r>
          </a:p>
          <a:p xmlns:a="http://schemas.openxmlformats.org/drawingml/2006/main">
            <a:r>
              <a:t>https://developers.google.com/machine-learning/crash-course/linear-regression/loss</a:t>
            </a:r>
          </a:p>
          <a:p xmlns:a="http://schemas.openxmlformats.org/drawingml/2006/main">
            <a:r>
              <a:t>https://scikit-learn.org/stable/modules/calibration.html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建议时长：70秒</a:t>
            </a:r>
          </a:p>
          <a:p xmlns:a="http://schemas.openxmlformats.org/drawingml/2006/main">
            <a:r>
              <a:t>时间段：16:50 至 18:00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后我们用三个小问题检查今天的主线。第一，预测考试分数和预测是否通过，最大的区别是什么？是目标变量的类型和模型输出的含义。第二，逻辑回归的概率是零点八，是不是意味着预测分数是八十分？不是，概率和分数是不同的量。第三，只调分类阈值，有没有重新训练模型？没有，改变的是决策规则。大家可以用几秒钟在心里回答。我们希望大家记住一条完整过程：先明确任务，再设计模型，用合适的损失学习参数，必要时设置决策阈值，最后在未见数据上评价。今天的网页可以继续拖动参数、观察图像并完成练习。以上是我们的小组汇报，谢谢大家，欢迎提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演示与转场：三个问题每题停顿约3秒；标准18分钟版到此结束，20分钟版另留2分钟回答问题。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https://developers.google.com/machine-learning/crash-course/linear-regression</a:t>
            </a:r>
          </a:p>
          <a:p xmlns:a="http://schemas.openxmlformats.org/drawingml/2006/main">
            <a:r>
              <a:t>https://developers.google.com/machine-learning/crash-course/logistic-regression</a:t>
            </a:r>
          </a:p>
          <a:p xmlns:a="http://schemas.openxmlformats.org/drawingml/2006/main">
            <a:r>
              <a:t>https://developers.google.com/machine-learning/crash-course/classification/thresholding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77b9e31acd49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5bacefb3764bbc" /><Relationship Type="http://schemas.openxmlformats.org/officeDocument/2006/relationships/slideLayout" Target="/ppt/slideLayouts/slideLayout1.xml" Id="R102d7d443d654f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2d7d443d654f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1fd30017c40c6" /><Relationship Type="http://schemas.openxmlformats.org/officeDocument/2006/relationships/notesSlide" Target="/ppt/notesSlides/notesSlide1.xml" Id="R8da770e7d1da41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013dcaaccf4d6a" /><Relationship Type="http://schemas.openxmlformats.org/officeDocument/2006/relationships/notesSlide" Target="/ppt/notesSlides/notesSlide2.xml" Id="Rdba832dffcde4b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7f0aaafb94e16" /><Relationship Type="http://schemas.openxmlformats.org/officeDocument/2006/relationships/notesSlide" Target="/ppt/notesSlides/notesSlide3.xml" Id="R8ee39ea5a2e047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583c52d974787" /><Relationship Type="http://schemas.openxmlformats.org/officeDocument/2006/relationships/notesSlide" Target="/ppt/notesSlides/notesSlide4.xml" Id="R2ddec0dfa4754a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480422a914a24" /><Relationship Type="http://schemas.openxmlformats.org/officeDocument/2006/relationships/notesSlide" Target="/ppt/notesSlides/notesSlide5.xml" Id="Rd571bd575d2943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71ae77ccb4651" /><Relationship Type="http://schemas.openxmlformats.org/officeDocument/2006/relationships/notesSlide" Target="/ppt/notesSlides/notesSlide6.xml" Id="R58f0aa6b2e9547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7861c02c74129" /><Relationship Type="http://schemas.openxmlformats.org/officeDocument/2006/relationships/notesSlide" Target="/ppt/notesSlides/notesSlide7.xml" Id="R1f55a76ea44f4c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c5f32d31d4a5f" /><Relationship Type="http://schemas.openxmlformats.org/officeDocument/2006/relationships/notesSlide" Target="/ppt/notesSlides/notesSlide8.xml" Id="R87591d801d0947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c5b2c072b48bd" /><Relationship Type="http://schemas.openxmlformats.org/officeDocument/2006/relationships/notesSlide" Target="/ppt/notesSlides/notesSlide9.xml" Id="Rc21b7a192b1a41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493531af04ccc" /><Relationship Type="http://schemas.openxmlformats.org/officeDocument/2006/relationships/notesSlide" Target="/ppt/notesSlides/notesSlide10.xml" Id="Rbae81f9293a94f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c0fb7e7614228" /><Relationship Type="http://schemas.openxmlformats.org/officeDocument/2006/relationships/notesSlide" Target="/ppt/notesSlides/notesSlide11.xml" Id="R18069b77c5c544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e35088f364504" /><Relationship Type="http://schemas.openxmlformats.org/officeDocument/2006/relationships/notesSlide" Target="/ppt/notesSlides/notesSlide12.xml" Id="R40395b765c76472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09b9ccf544e7e" /><Relationship Type="http://schemas.openxmlformats.org/officeDocument/2006/relationships/notesSlide" Target="/ppt/notesSlides/notesSlide13.xml" Id="R5df542ce5cd447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bd326b8024dce" /><Relationship Type="http://schemas.openxmlformats.org/officeDocument/2006/relationships/notesSlide" Target="/ppt/notesSlides/notesSlide14.xml" Id="Rd2d0396a1ae942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1-title">
            <a:extLst xmlns:a="http://schemas.openxmlformats.org/drawingml/2006/main">
              <a:ext uri="{FF2B5EF4-FFF2-40B4-BE49-F238E27FC236}">
                <a16:creationId xmlns:a16="http://schemas.microsoft.com/office/drawing/2014/main" id="{D0677F9B-3AD4-44DC-9FA4-957523EF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两个预测问题</a:t>
            </a:r>
          </a:p>
        </p:txBody>
      </p:sp>
      <p:sp>
        <p:nvSpPr>
          <p:cNvPr id="2" name="slide-1-goal-label">
            <a:extLst xmlns:a="http://schemas.openxmlformats.org/drawingml/2006/main">
              <a:ext uri="{FF2B5EF4-FFF2-40B4-BE49-F238E27FC236}">
                <a16:creationId xmlns:a16="http://schemas.microsoft.com/office/drawing/2014/main" id="{DDF398AD-950F-4D76-80B8-E4A04441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1-goal">
            <a:extLst xmlns:a="http://schemas.openxmlformats.org/drawingml/2006/main">
              <a:ext uri="{FF2B5EF4-FFF2-40B4-BE49-F238E27FC236}">
                <a16:creationId xmlns:a16="http://schemas.microsoft.com/office/drawing/2014/main" id="{64062EEF-289E-48C3-BBCD-08ED2714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用同一个场景区分连续数值预测与二分类，明确本次汇报主线。</a:t>
            </a:r>
          </a:p>
        </p:txBody>
      </p:sp>
      <p:sp>
        <p:nvSpPr>
          <p:cNvPr id="4" name="slide-1-points-label">
            <a:extLst xmlns:a="http://schemas.openxmlformats.org/drawingml/2006/main">
              <a:ext uri="{FF2B5EF4-FFF2-40B4-BE49-F238E27FC236}">
                <a16:creationId xmlns:a16="http://schemas.microsoft.com/office/drawing/2014/main" id="{FC027507-AB3E-4C4A-AD91-EE4E6B71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1-point-1">
            <a:extLst xmlns:a="http://schemas.openxmlformats.org/drawingml/2006/main">
              <a:ext uri="{FF2B5EF4-FFF2-40B4-BE49-F238E27FC236}">
                <a16:creationId xmlns:a16="http://schemas.microsoft.com/office/drawing/2014/main" id="{1CB251FD-3D26-422E-9C21-DBFEB1B7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情境一：根据学习时长预测考试分数</a:t>
            </a:r>
          </a:p>
        </p:txBody>
      </p:sp>
      <p:sp>
        <p:nvSpPr>
          <p:cNvPr id="6" name="slide-1-point-2">
            <a:extLst xmlns:a="http://schemas.openxmlformats.org/drawingml/2006/main">
              <a:ext uri="{FF2B5EF4-FFF2-40B4-BE49-F238E27FC236}">
                <a16:creationId xmlns:a16="http://schemas.microsoft.com/office/drawing/2014/main" id="{0A593124-2AB7-459D-A4D0-197B3457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情境二：根据学习时长预测是否通过</a:t>
            </a:r>
          </a:p>
        </p:txBody>
      </p:sp>
      <p:sp>
        <p:nvSpPr>
          <p:cNvPr id="7" name="slide-1-point-3">
            <a:extLst xmlns:a="http://schemas.openxmlformats.org/drawingml/2006/main">
              <a:ext uri="{FF2B5EF4-FFF2-40B4-BE49-F238E27FC236}">
                <a16:creationId xmlns:a16="http://schemas.microsoft.com/office/drawing/2014/main" id="{D3CC2CAB-EA81-421F-9513-4DCED839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先判断输出是什么，再选择模型</a:t>
            </a:r>
          </a:p>
        </p:txBody>
      </p:sp>
      <p:sp>
        <p:nvSpPr>
          <p:cNvPr id="8" name="slide-1-visual-label">
            <a:extLst xmlns:a="http://schemas.openxmlformats.org/drawingml/2006/main">
              <a:ext uri="{FF2B5EF4-FFF2-40B4-BE49-F238E27FC236}">
                <a16:creationId xmlns:a16="http://schemas.microsoft.com/office/drawing/2014/main" id="{FDCF10C6-9090-4E63-9560-88BDC4D0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1-visual">
            <a:extLst xmlns:a="http://schemas.openxmlformats.org/drawingml/2006/main">
              <a:ext uri="{FF2B5EF4-FFF2-40B4-BE49-F238E27FC236}">
                <a16:creationId xmlns:a16="http://schemas.microsoft.com/office/drawing/2014/main" id="{DE8874A1-9303-416D-BA7D-C90F0268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待补：同一张教学模拟学生数据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卡，分成“预测分数”和“预测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通过概率”两条分支；页脚注明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教学模拟，非真实教育规律。</a:t>
            </a:r>
          </a:p>
        </p:txBody>
      </p:sp>
      <p:sp>
        <p:nvSpPr>
          <p:cNvPr id="10" name="slide-1-timing">
            <a:extLst xmlns:a="http://schemas.openxmlformats.org/drawingml/2006/main">
              <a:ext uri="{FF2B5EF4-FFF2-40B4-BE49-F238E27FC236}">
                <a16:creationId xmlns:a16="http://schemas.microsoft.com/office/drawing/2014/main" id="{621B9F2A-85D7-49FE-B068-67717CE3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00:00 至 00:45    本页 45 秒</a:t>
            </a:r>
          </a:p>
        </p:txBody>
      </p:sp>
      <p:sp>
        <p:nvSpPr>
          <p:cNvPr id="11" name="slide-1-page">
            <a:extLst xmlns:a="http://schemas.openxmlformats.org/drawingml/2006/main">
              <a:ext uri="{FF2B5EF4-FFF2-40B4-BE49-F238E27FC236}">
                <a16:creationId xmlns:a16="http://schemas.microsoft.com/office/drawing/2014/main" id="{DAFBD803-D1E0-4231-B54E-889B49A7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01 / 14</a:t>
            </a:r>
          </a:p>
        </p:txBody>
      </p:sp>
    </p:spTree>
    <p:extLst>
      <p:ext uri="{BB962C8B-B14F-4D97-AF65-F5344CB8AC3E}">
        <p14:creationId xmlns:p14="http://schemas.microsoft.com/office/powerpoint/2010/main" val="2079038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1BC7C389-7262-485B-AFED-79C41182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共同的学习流程</a:t>
            </a:r>
          </a:p>
        </p:txBody>
      </p:sp>
      <p:sp>
        <p:nvSpPr>
          <p:cNvPr id="2" name="slide-2-goal-label">
            <a:extLst xmlns:a="http://schemas.openxmlformats.org/drawingml/2006/main">
              <a:ext uri="{FF2B5EF4-FFF2-40B4-BE49-F238E27FC236}">
                <a16:creationId xmlns:a16="http://schemas.microsoft.com/office/drawing/2014/main" id="{44D38830-308A-4180-8F44-16826BE5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2-goal">
            <a:extLst xmlns:a="http://schemas.openxmlformats.org/drawingml/2006/main">
              <a:ext uri="{FF2B5EF4-FFF2-40B4-BE49-F238E27FC236}">
                <a16:creationId xmlns:a16="http://schemas.microsoft.com/office/drawing/2014/main" id="{816C8B2D-CE82-4AFB-8492-8182020F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建立特征、标签、参数、损失和训练的共同词汇。</a:t>
            </a:r>
          </a:p>
        </p:txBody>
      </p:sp>
      <p:sp>
        <p:nvSpPr>
          <p:cNvPr id="4" name="slide-2-points-label">
            <a:extLst xmlns:a="http://schemas.openxmlformats.org/drawingml/2006/main">
              <a:ext uri="{FF2B5EF4-FFF2-40B4-BE49-F238E27FC236}">
                <a16:creationId xmlns:a16="http://schemas.microsoft.com/office/drawing/2014/main" id="{483A5AE5-DFF4-415A-9B4C-01AE57A3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2-point-1">
            <a:extLst xmlns:a="http://schemas.openxmlformats.org/drawingml/2006/main">
              <a:ext uri="{FF2B5EF4-FFF2-40B4-BE49-F238E27FC236}">
                <a16:creationId xmlns:a16="http://schemas.microsoft.com/office/drawing/2014/main" id="{F2CDE17A-A3C1-475C-A22A-B0FA5E1C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输入特征与目标标签：模型从什么预测什么</a:t>
            </a:r>
          </a:p>
        </p:txBody>
      </p:sp>
      <p:sp>
        <p:nvSpPr>
          <p:cNvPr id="6" name="slide-2-point-2">
            <a:extLst xmlns:a="http://schemas.openxmlformats.org/drawingml/2006/main">
              <a:ext uri="{FF2B5EF4-FFF2-40B4-BE49-F238E27FC236}">
                <a16:creationId xmlns:a16="http://schemas.microsoft.com/office/drawing/2014/main" id="{76F326A1-D1CD-497F-A649-4EC8C4C1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模型给出预测，损失衡量预测与标签的差距</a:t>
            </a:r>
          </a:p>
        </p:txBody>
      </p:sp>
      <p:sp>
        <p:nvSpPr>
          <p:cNvPr id="7" name="slide-2-point-3">
            <a:extLst xmlns:a="http://schemas.openxmlformats.org/drawingml/2006/main">
              <a:ext uri="{FF2B5EF4-FFF2-40B4-BE49-F238E27FC236}">
                <a16:creationId xmlns:a16="http://schemas.microsoft.com/office/drawing/2014/main" id="{00A0DF10-1C93-4AF3-8F6B-A306E5DE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训练调整参数，最后用未见数据评价</a:t>
            </a:r>
          </a:p>
        </p:txBody>
      </p:sp>
      <p:sp>
        <p:nvSpPr>
          <p:cNvPr id="8" name="slide-2-visual-label">
            <a:extLst xmlns:a="http://schemas.openxmlformats.org/drawingml/2006/main">
              <a:ext uri="{FF2B5EF4-FFF2-40B4-BE49-F238E27FC236}">
                <a16:creationId xmlns:a16="http://schemas.microsoft.com/office/drawing/2014/main" id="{36D95984-50E4-4039-B40F-9E6C1F12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2-visual">
            <a:extLst xmlns:a="http://schemas.openxmlformats.org/drawingml/2006/main">
              <a:ext uri="{FF2B5EF4-FFF2-40B4-BE49-F238E27FC236}">
                <a16:creationId xmlns:a16="http://schemas.microsoft.com/office/drawing/2014/main" id="{FD82727F-2C8D-4577-A195-02AC6955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待补：数据→模型→预测→损失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→更新参数的循环图，测试集在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循环外单独评价。</a:t>
            </a:r>
          </a:p>
        </p:txBody>
      </p:sp>
      <p:sp>
        <p:nvSpPr>
          <p:cNvPr id="10" name="slide-2-timing">
            <a:extLst xmlns:a="http://schemas.openxmlformats.org/drawingml/2006/main">
              <a:ext uri="{FF2B5EF4-FFF2-40B4-BE49-F238E27FC236}">
                <a16:creationId xmlns:a16="http://schemas.microsoft.com/office/drawing/2014/main" id="{64B10CE6-ACA3-46C0-8922-96EB2783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00:45 至 01:30    本页 45 秒</a:t>
            </a:r>
          </a:p>
        </p:txBody>
      </p:sp>
      <p:sp>
        <p:nvSpPr>
          <p:cNvPr id="11" name="slide-2-page">
            <a:extLst xmlns:a="http://schemas.openxmlformats.org/drawingml/2006/main">
              <a:ext uri="{FF2B5EF4-FFF2-40B4-BE49-F238E27FC236}">
                <a16:creationId xmlns:a16="http://schemas.microsoft.com/office/drawing/2014/main" id="{724AD571-0378-4C16-A296-30705689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4549826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7436F3B5-A47B-409C-A9DC-81484B7F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线性回归的模型</a:t>
            </a:r>
          </a:p>
        </p:txBody>
      </p:sp>
      <p:sp>
        <p:nvSpPr>
          <p:cNvPr id="2" name="slide-3-goal-label">
            <a:extLst xmlns:a="http://schemas.openxmlformats.org/drawingml/2006/main">
              <a:ext uri="{FF2B5EF4-FFF2-40B4-BE49-F238E27FC236}">
                <a16:creationId xmlns:a16="http://schemas.microsoft.com/office/drawing/2014/main" id="{FFAA6A61-B2F3-468F-9A9A-8915EEE0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3-goal">
            <a:extLst xmlns:a="http://schemas.openxmlformats.org/drawingml/2006/main">
              <a:ext uri="{FF2B5EF4-FFF2-40B4-BE49-F238E27FC236}">
                <a16:creationId xmlns:a16="http://schemas.microsoft.com/office/drawing/2014/main" id="{E4B18485-558D-4E25-9790-C5A13A8F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把散点图中的直线与线性回归参数对应起来。</a:t>
            </a:r>
          </a:p>
        </p:txBody>
      </p:sp>
      <p:sp>
        <p:nvSpPr>
          <p:cNvPr id="4" name="slide-3-points-label">
            <a:extLst xmlns:a="http://schemas.openxmlformats.org/drawingml/2006/main">
              <a:ext uri="{FF2B5EF4-FFF2-40B4-BE49-F238E27FC236}">
                <a16:creationId xmlns:a16="http://schemas.microsoft.com/office/drawing/2014/main" id="{1CC60F84-F4A5-454F-A439-72B5388A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3-point-1">
            <a:extLst xmlns:a="http://schemas.openxmlformats.org/drawingml/2006/main">
              <a:ext uri="{FF2B5EF4-FFF2-40B4-BE49-F238E27FC236}">
                <a16:creationId xmlns:a16="http://schemas.microsoft.com/office/drawing/2014/main" id="{83EE662A-9EE2-439B-8FE6-DCF03B34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单特征模型：用一条直线近似特征与数值目标的关系</a:t>
            </a:r>
          </a:p>
        </p:txBody>
      </p:sp>
      <p:sp>
        <p:nvSpPr>
          <p:cNvPr id="6" name="slide-3-point-2">
            <a:extLst xmlns:a="http://schemas.openxmlformats.org/drawingml/2006/main">
              <a:ext uri="{FF2B5EF4-FFF2-40B4-BE49-F238E27FC236}">
                <a16:creationId xmlns:a16="http://schemas.microsoft.com/office/drawing/2014/main" id="{B32A79DE-5AE5-4589-B451-7BEAA44E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斜率决定变化方向和速度，截距决定整体位置</a:t>
            </a:r>
          </a:p>
        </p:txBody>
      </p:sp>
      <p:sp>
        <p:nvSpPr>
          <p:cNvPr id="7" name="slide-3-point-3">
            <a:extLst xmlns:a="http://schemas.openxmlformats.org/drawingml/2006/main">
              <a:ext uri="{FF2B5EF4-FFF2-40B4-BE49-F238E27FC236}">
                <a16:creationId xmlns:a16="http://schemas.microsoft.com/office/drawing/2014/main" id="{934089F6-E089-4304-A311-5823EBEE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扩展到多个特征，理解“对参数线性”的含义</a:t>
            </a:r>
          </a:p>
        </p:txBody>
      </p:sp>
      <p:sp>
        <p:nvSpPr>
          <p:cNvPr id="8" name="slide-3-visual-label">
            <a:extLst xmlns:a="http://schemas.openxmlformats.org/drawingml/2006/main">
              <a:ext uri="{FF2B5EF4-FFF2-40B4-BE49-F238E27FC236}">
                <a16:creationId xmlns:a16="http://schemas.microsoft.com/office/drawing/2014/main" id="{DBB6306E-0922-48CD-A9C4-989EA5FA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3-visual">
            <a:extLst xmlns:a="http://schemas.openxmlformats.org/drawingml/2006/main">
              <a:ext uri="{FF2B5EF4-FFF2-40B4-BE49-F238E27FC236}">
                <a16:creationId xmlns:a16="http://schemas.microsoft.com/office/drawing/2014/main" id="{8E33C806-46CF-419C-BA3D-F4B905E3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待补：学习时长—分数散点图、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一条预测直线，以及斜率/截距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的可编辑标注；只保留一行核心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模型公式。</a:t>
            </a:r>
          </a:p>
        </p:txBody>
      </p:sp>
      <p:sp>
        <p:nvSpPr>
          <p:cNvPr id="10" name="slide-3-timing">
            <a:extLst xmlns:a="http://schemas.openxmlformats.org/drawingml/2006/main">
              <a:ext uri="{FF2B5EF4-FFF2-40B4-BE49-F238E27FC236}">
                <a16:creationId xmlns:a16="http://schemas.microsoft.com/office/drawing/2014/main" id="{28863F3D-3928-407F-88D9-B379AE7A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01:30 至 02:45    本页 75 秒</a:t>
            </a:r>
          </a:p>
        </p:txBody>
      </p:sp>
      <p:sp>
        <p:nvSpPr>
          <p:cNvPr id="11" name="slide-3-page">
            <a:extLst xmlns:a="http://schemas.openxmlformats.org/drawingml/2006/main">
              <a:ext uri="{FF2B5EF4-FFF2-40B4-BE49-F238E27FC236}">
                <a16:creationId xmlns:a16="http://schemas.microsoft.com/office/drawing/2014/main" id="{BCBF9AA1-F3D1-4C0E-A771-BA183589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11153022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A70B1D8E-CCE6-4BF6-8C4E-5A9D58C9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残差与均方误差</a:t>
            </a:r>
          </a:p>
        </p:txBody>
      </p:sp>
      <p:sp>
        <p:nvSpPr>
          <p:cNvPr id="2" name="slide-4-goal-label">
            <a:extLst xmlns:a="http://schemas.openxmlformats.org/drawingml/2006/main">
              <a:ext uri="{FF2B5EF4-FFF2-40B4-BE49-F238E27FC236}">
                <a16:creationId xmlns:a16="http://schemas.microsoft.com/office/drawing/2014/main" id="{A31092FE-DBB5-40DD-9FB0-9753B142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4-goal">
            <a:extLst xmlns:a="http://schemas.openxmlformats.org/drawingml/2006/main">
              <a:ext uri="{FF2B5EF4-FFF2-40B4-BE49-F238E27FC236}">
                <a16:creationId xmlns:a16="http://schemas.microsoft.com/office/drawing/2014/main" id="{852FDCF5-8F19-4D78-A21D-A00AC7F1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从点到直线的竖直差距建立残差与MSE的直观认识。</a:t>
            </a:r>
          </a:p>
        </p:txBody>
      </p:sp>
      <p:sp>
        <p:nvSpPr>
          <p:cNvPr id="4" name="slide-4-points-label">
            <a:extLst xmlns:a="http://schemas.openxmlformats.org/drawingml/2006/main">
              <a:ext uri="{FF2B5EF4-FFF2-40B4-BE49-F238E27FC236}">
                <a16:creationId xmlns:a16="http://schemas.microsoft.com/office/drawing/2014/main" id="{F52B613A-4505-4C05-854F-3828EF04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4-point-1">
            <a:extLst xmlns:a="http://schemas.openxmlformats.org/drawingml/2006/main">
              <a:ext uri="{FF2B5EF4-FFF2-40B4-BE49-F238E27FC236}">
                <a16:creationId xmlns:a16="http://schemas.microsoft.com/office/drawing/2014/main" id="{6EEDC853-5C03-44E9-AC95-128502D2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残差：同一个输入位置上，预测值减真实值</a:t>
            </a:r>
          </a:p>
        </p:txBody>
      </p:sp>
      <p:sp>
        <p:nvSpPr>
          <p:cNvPr id="6" name="slide-4-point-2">
            <a:extLst xmlns:a="http://schemas.openxmlformats.org/drawingml/2006/main">
              <a:ext uri="{FF2B5EF4-FFF2-40B4-BE49-F238E27FC236}">
                <a16:creationId xmlns:a16="http://schemas.microsoft.com/office/drawing/2014/main" id="{E70792DC-B2C2-4460-BEE1-76AF3EFF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平方后求平均，避免正负抵消并强调较大偏差</a:t>
            </a:r>
          </a:p>
        </p:txBody>
      </p:sp>
      <p:sp>
        <p:nvSpPr>
          <p:cNvPr id="7" name="slide-4-point-3">
            <a:extLst xmlns:a="http://schemas.openxmlformats.org/drawingml/2006/main">
              <a:ext uri="{FF2B5EF4-FFF2-40B4-BE49-F238E27FC236}">
                <a16:creationId xmlns:a16="http://schemas.microsoft.com/office/drawing/2014/main" id="{AE8E09D9-7FFB-41DE-BA40-7C28B4B9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拖动参数，观察拟合直线、残差和MSE一起变化</a:t>
            </a:r>
          </a:p>
        </p:txBody>
      </p:sp>
      <p:sp>
        <p:nvSpPr>
          <p:cNvPr id="8" name="slide-4-visual-label">
            <a:extLst xmlns:a="http://schemas.openxmlformats.org/drawingml/2006/main">
              <a:ext uri="{FF2B5EF4-FFF2-40B4-BE49-F238E27FC236}">
                <a16:creationId xmlns:a16="http://schemas.microsoft.com/office/drawing/2014/main" id="{4E658532-3E2B-4456-A158-127FBE18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4-visual">
            <a:extLst xmlns:a="http://schemas.openxmlformats.org/drawingml/2006/main">
              <a:ext uri="{FF2B5EF4-FFF2-40B4-BE49-F238E27FC236}">
                <a16:creationId xmlns:a16="http://schemas.microsoft.com/office/drawing/2014/main" id="{B9A62A7D-E53B-490C-94F3-F7EAF43D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待补：残差竖线、MSE数值与参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数滑块的网页截图；保留35秒交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互演示。</a:t>
            </a:r>
          </a:p>
        </p:txBody>
      </p:sp>
      <p:sp>
        <p:nvSpPr>
          <p:cNvPr id="10" name="slide-4-timing">
            <a:extLst xmlns:a="http://schemas.openxmlformats.org/drawingml/2006/main">
              <a:ext uri="{FF2B5EF4-FFF2-40B4-BE49-F238E27FC236}">
                <a16:creationId xmlns:a16="http://schemas.microsoft.com/office/drawing/2014/main" id="{0C9284F5-5A3B-4E3C-862A-370825F8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02:45 至 04:15    本页 90 秒</a:t>
            </a:r>
          </a:p>
        </p:txBody>
      </p:sp>
      <p:sp>
        <p:nvSpPr>
          <p:cNvPr id="11" name="slide-4-page">
            <a:extLst xmlns:a="http://schemas.openxmlformats.org/drawingml/2006/main">
              <a:ext uri="{FF2B5EF4-FFF2-40B4-BE49-F238E27FC236}">
                <a16:creationId xmlns:a16="http://schemas.microsoft.com/office/drawing/2014/main" id="{CE5B71FB-DEFE-4182-8461-419E505A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04 / 14</a:t>
            </a:r>
          </a:p>
        </p:txBody>
      </p:sp>
    </p:spTree>
    <p:extLst>
      <p:ext uri="{BB962C8B-B14F-4D97-AF65-F5344CB8AC3E}">
        <p14:creationId xmlns:p14="http://schemas.microsoft.com/office/powerpoint/2010/main" val="8013498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235368BB-4CFF-4AC5-A887-57C3BA7B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梯度下降如何学习</a:t>
            </a:r>
          </a:p>
        </p:txBody>
      </p:sp>
      <p:sp>
        <p:nvSpPr>
          <p:cNvPr id="2" name="slide-5-goal-label">
            <a:extLst xmlns:a="http://schemas.openxmlformats.org/drawingml/2006/main">
              <a:ext uri="{FF2B5EF4-FFF2-40B4-BE49-F238E27FC236}">
                <a16:creationId xmlns:a16="http://schemas.microsoft.com/office/drawing/2014/main" id="{954D0A93-EFAF-44C6-8DA7-25376AA2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5-goal">
            <a:extLst xmlns:a="http://schemas.openxmlformats.org/drawingml/2006/main">
              <a:ext uri="{FF2B5EF4-FFF2-40B4-BE49-F238E27FC236}">
                <a16:creationId xmlns:a16="http://schemas.microsoft.com/office/drawing/2014/main" id="{4899FF36-6914-44FE-ADB0-6CF75203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理解梯度下降的方向、步长与反复更新过程。</a:t>
            </a:r>
          </a:p>
        </p:txBody>
      </p:sp>
      <p:sp>
        <p:nvSpPr>
          <p:cNvPr id="4" name="slide-5-points-label">
            <a:extLst xmlns:a="http://schemas.openxmlformats.org/drawingml/2006/main">
              <a:ext uri="{FF2B5EF4-FFF2-40B4-BE49-F238E27FC236}">
                <a16:creationId xmlns:a16="http://schemas.microsoft.com/office/drawing/2014/main" id="{54A36044-FB39-48A1-A119-34D90DC7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5-point-1">
            <a:extLst xmlns:a="http://schemas.openxmlformats.org/drawingml/2006/main">
              <a:ext uri="{FF2B5EF4-FFF2-40B4-BE49-F238E27FC236}">
                <a16:creationId xmlns:a16="http://schemas.microsoft.com/office/drawing/2014/main" id="{2DC35501-F89C-4D9B-BA6A-05A088FA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把损失想象成地形高度，参数决定当前位置</a:t>
            </a:r>
          </a:p>
        </p:txBody>
      </p:sp>
      <p:sp>
        <p:nvSpPr>
          <p:cNvPr id="6" name="slide-5-point-2">
            <a:extLst xmlns:a="http://schemas.openxmlformats.org/drawingml/2006/main">
              <a:ext uri="{FF2B5EF4-FFF2-40B4-BE49-F238E27FC236}">
                <a16:creationId xmlns:a16="http://schemas.microsoft.com/office/drawing/2014/main" id="{182FB50C-FB46-4387-937C-FA4B9F06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沿负梯度方向更新，学习率控制每次走多远</a:t>
            </a:r>
          </a:p>
        </p:txBody>
      </p:sp>
      <p:sp>
        <p:nvSpPr>
          <p:cNvPr id="7" name="slide-5-point-3">
            <a:extLst xmlns:a="http://schemas.openxmlformats.org/drawingml/2006/main">
              <a:ext uri="{FF2B5EF4-FFF2-40B4-BE49-F238E27FC236}">
                <a16:creationId xmlns:a16="http://schemas.microsoft.com/office/drawing/2014/main" id="{19E48925-9FDA-41F2-AF59-CAD02DCB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对比合适和过大的学习率；区分模型与求解方法</a:t>
            </a:r>
          </a:p>
        </p:txBody>
      </p:sp>
      <p:sp>
        <p:nvSpPr>
          <p:cNvPr id="8" name="slide-5-visual-label">
            <a:extLst xmlns:a="http://schemas.openxmlformats.org/drawingml/2006/main">
              <a:ext uri="{FF2B5EF4-FFF2-40B4-BE49-F238E27FC236}">
                <a16:creationId xmlns:a16="http://schemas.microsoft.com/office/drawing/2014/main" id="{3693143C-49B8-4BD8-BCFF-1DDD462C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5-visual">
            <a:extLst xmlns:a="http://schemas.openxmlformats.org/drawingml/2006/main">
              <a:ext uri="{FF2B5EF4-FFF2-40B4-BE49-F238E27FC236}">
                <a16:creationId xmlns:a16="http://schemas.microsoft.com/office/drawing/2014/main" id="{BE79F53B-ACCB-4B57-8770-08BD959A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待补：损失曲线与当前参数点、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正常/过大学习率对照；保留40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秒交互演示。</a:t>
            </a:r>
          </a:p>
        </p:txBody>
      </p:sp>
      <p:sp>
        <p:nvSpPr>
          <p:cNvPr id="10" name="slide-5-timing">
            <a:extLst xmlns:a="http://schemas.openxmlformats.org/drawingml/2006/main">
              <a:ext uri="{FF2B5EF4-FFF2-40B4-BE49-F238E27FC236}">
                <a16:creationId xmlns:a16="http://schemas.microsoft.com/office/drawing/2014/main" id="{5031D160-D50E-4000-B59D-56F91C79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04:15 至 05:55    本页 100 秒</a:t>
            </a:r>
          </a:p>
        </p:txBody>
      </p:sp>
      <p:sp>
        <p:nvSpPr>
          <p:cNvPr id="11" name="slide-5-page">
            <a:extLst xmlns:a="http://schemas.openxmlformats.org/drawingml/2006/main">
              <a:ext uri="{FF2B5EF4-FFF2-40B4-BE49-F238E27FC236}">
                <a16:creationId xmlns:a16="http://schemas.microsoft.com/office/drawing/2014/main" id="{0BF2399D-A24E-4411-BE42-C4677A72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1788853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F9A9939F-250F-46F5-B3A6-972C4CE5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从分数走向分类</a:t>
            </a:r>
          </a:p>
        </p:txBody>
      </p:sp>
      <p:sp>
        <p:nvSpPr>
          <p:cNvPr id="2" name="slide-6-goal-label">
            <a:extLst xmlns:a="http://schemas.openxmlformats.org/drawingml/2006/main">
              <a:ext uri="{FF2B5EF4-FFF2-40B4-BE49-F238E27FC236}">
                <a16:creationId xmlns:a16="http://schemas.microsoft.com/office/drawing/2014/main" id="{47A7525D-0A0F-45CE-8498-71CCF12B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6-goal">
            <a:extLst xmlns:a="http://schemas.openxmlformats.org/drawingml/2006/main">
              <a:ext uri="{FF2B5EF4-FFF2-40B4-BE49-F238E27FC236}">
                <a16:creationId xmlns:a16="http://schemas.microsoft.com/office/drawing/2014/main" id="{7B5EC82D-1E93-44B8-89A6-ABCF25EE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说明为什么二分类需要与数值回归不同的输出和训练方式。</a:t>
            </a:r>
          </a:p>
        </p:txBody>
      </p:sp>
      <p:sp>
        <p:nvSpPr>
          <p:cNvPr id="4" name="slide-6-points-label">
            <a:extLst xmlns:a="http://schemas.openxmlformats.org/drawingml/2006/main">
              <a:ext uri="{FF2B5EF4-FFF2-40B4-BE49-F238E27FC236}">
                <a16:creationId xmlns:a16="http://schemas.microsoft.com/office/drawing/2014/main" id="{DF0A19AD-279D-492A-8621-3DD59490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6-point-1">
            <a:extLst xmlns:a="http://schemas.openxmlformats.org/drawingml/2006/main">
              <a:ext uri="{FF2B5EF4-FFF2-40B4-BE49-F238E27FC236}">
                <a16:creationId xmlns:a16="http://schemas.microsoft.com/office/drawing/2014/main" id="{678A4235-8E3D-4442-B329-46A2B457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将标签换成通过1、未通过0，明确正类定义</a:t>
            </a:r>
          </a:p>
        </p:txBody>
      </p:sp>
      <p:sp>
        <p:nvSpPr>
          <p:cNvPr id="6" name="slide-6-point-2">
            <a:extLst xmlns:a="http://schemas.openxmlformats.org/drawingml/2006/main">
              <a:ext uri="{FF2B5EF4-FFF2-40B4-BE49-F238E27FC236}">
                <a16:creationId xmlns:a16="http://schemas.microsoft.com/office/drawing/2014/main" id="{A0A9586F-216C-418F-839E-4DB2082D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无约束直线输出可能小于0或大于1</a:t>
            </a:r>
          </a:p>
        </p:txBody>
      </p:sp>
      <p:sp>
        <p:nvSpPr>
          <p:cNvPr id="7" name="slide-6-point-3">
            <a:extLst xmlns:a="http://schemas.openxmlformats.org/drawingml/2006/main">
              <a:ext uri="{FF2B5EF4-FFF2-40B4-BE49-F238E27FC236}">
                <a16:creationId xmlns:a16="http://schemas.microsoft.com/office/drawing/2014/main" id="{EB229934-5554-45E0-B4F1-883A210E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逻辑回归直接建模类别概率，再通过阈值作决定</a:t>
            </a:r>
          </a:p>
        </p:txBody>
      </p:sp>
      <p:sp>
        <p:nvSpPr>
          <p:cNvPr id="8" name="slide-6-visual-label">
            <a:extLst xmlns:a="http://schemas.openxmlformats.org/drawingml/2006/main">
              <a:ext uri="{FF2B5EF4-FFF2-40B4-BE49-F238E27FC236}">
                <a16:creationId xmlns:a16="http://schemas.microsoft.com/office/drawing/2014/main" id="{27F58A85-7BAD-4133-AB37-48EF1DD7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6-visual">
            <a:extLst xmlns:a="http://schemas.openxmlformats.org/drawingml/2006/main">
              <a:ext uri="{FF2B5EF4-FFF2-40B4-BE49-F238E27FC236}">
                <a16:creationId xmlns:a16="http://schemas.microsoft.com/office/drawing/2014/main" id="{5F2AFA5C-5B2D-47A0-8D9B-BC4B9FD0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待补：连续分数轴与0/1标签轴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并排；用越过0和1的直线引出概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率映射。</a:t>
            </a:r>
          </a:p>
        </p:txBody>
      </p:sp>
      <p:sp>
        <p:nvSpPr>
          <p:cNvPr id="10" name="slide-6-timing">
            <a:extLst xmlns:a="http://schemas.openxmlformats.org/drawingml/2006/main">
              <a:ext uri="{FF2B5EF4-FFF2-40B4-BE49-F238E27FC236}">
                <a16:creationId xmlns:a16="http://schemas.microsoft.com/office/drawing/2014/main" id="{FD4E9999-C1DA-4E67-9849-8B62184A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05:55 至 06:45    本页 50 秒</a:t>
            </a:r>
          </a:p>
        </p:txBody>
      </p:sp>
      <p:sp>
        <p:nvSpPr>
          <p:cNvPr id="11" name="slide-6-page">
            <a:extLst xmlns:a="http://schemas.openxmlformats.org/drawingml/2006/main">
              <a:ext uri="{FF2B5EF4-FFF2-40B4-BE49-F238E27FC236}">
                <a16:creationId xmlns:a16="http://schemas.microsoft.com/office/drawing/2014/main" id="{1D77F37C-9A71-4C30-8545-B63AB054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18917797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BE9D51FD-038D-448F-B621-B1E70E77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Sigmoid与概率</a:t>
            </a:r>
          </a:p>
        </p:txBody>
      </p:sp>
      <p:sp>
        <p:nvSpPr>
          <p:cNvPr id="2" name="slide-7-goal-label">
            <a:extLst xmlns:a="http://schemas.openxmlformats.org/drawingml/2006/main">
              <a:ext uri="{FF2B5EF4-FFF2-40B4-BE49-F238E27FC236}">
                <a16:creationId xmlns:a16="http://schemas.microsoft.com/office/drawing/2014/main" id="{A0611592-E202-4F51-9D8A-0C2F3686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7-goal">
            <a:extLst xmlns:a="http://schemas.openxmlformats.org/drawingml/2006/main">
              <a:ext uri="{FF2B5EF4-FFF2-40B4-BE49-F238E27FC236}">
                <a16:creationId xmlns:a16="http://schemas.microsoft.com/office/drawing/2014/main" id="{BE19F586-839E-46CC-9B53-E8DB3C97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看懂线性分数到概率的S形映射，并区分概率与最终类别。</a:t>
            </a:r>
          </a:p>
        </p:txBody>
      </p:sp>
      <p:sp>
        <p:nvSpPr>
          <p:cNvPr id="4" name="slide-7-points-label">
            <a:extLst xmlns:a="http://schemas.openxmlformats.org/drawingml/2006/main">
              <a:ext uri="{FF2B5EF4-FFF2-40B4-BE49-F238E27FC236}">
                <a16:creationId xmlns:a16="http://schemas.microsoft.com/office/drawing/2014/main" id="{97595023-3C87-4CEB-83B3-6D43E472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7-point-1">
            <a:extLst xmlns:a="http://schemas.openxmlformats.org/drawingml/2006/main">
              <a:ext uri="{FF2B5EF4-FFF2-40B4-BE49-F238E27FC236}">
                <a16:creationId xmlns:a16="http://schemas.microsoft.com/office/drawing/2014/main" id="{6BEF9813-8859-457C-BAED-7B10029A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先计算线性分数z，再用Sigmoid映射为概率p</a:t>
            </a:r>
          </a:p>
        </p:txBody>
      </p:sp>
      <p:sp>
        <p:nvSpPr>
          <p:cNvPr id="6" name="slide-7-point-2">
            <a:extLst xmlns:a="http://schemas.openxmlformats.org/drawingml/2006/main">
              <a:ext uri="{FF2B5EF4-FFF2-40B4-BE49-F238E27FC236}">
                <a16:creationId xmlns:a16="http://schemas.microsoft.com/office/drawing/2014/main" id="{7DB01796-7C1E-4942-BABC-6157D8EA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z为0时p为0.5；正负方向分别靠近1和0</a:t>
            </a:r>
          </a:p>
        </p:txBody>
      </p:sp>
      <p:sp>
        <p:nvSpPr>
          <p:cNvPr id="7" name="slide-7-point-3">
            <a:extLst xmlns:a="http://schemas.openxmlformats.org/drawingml/2006/main">
              <a:ext uri="{FF2B5EF4-FFF2-40B4-BE49-F238E27FC236}">
                <a16:creationId xmlns:a16="http://schemas.microsoft.com/office/drawing/2014/main" id="{F58BF455-6881-4B57-9448-5928C353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概率是模型估计，是否可信仍需要检验</a:t>
            </a:r>
          </a:p>
        </p:txBody>
      </p:sp>
      <p:sp>
        <p:nvSpPr>
          <p:cNvPr id="8" name="slide-7-visual-label">
            <a:extLst xmlns:a="http://schemas.openxmlformats.org/drawingml/2006/main">
              <a:ext uri="{FF2B5EF4-FFF2-40B4-BE49-F238E27FC236}">
                <a16:creationId xmlns:a16="http://schemas.microsoft.com/office/drawing/2014/main" id="{BCAE8E06-9B14-47FE-8A03-F49E82A8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7-visual">
            <a:extLst xmlns:a="http://schemas.openxmlformats.org/drawingml/2006/main">
              <a:ext uri="{FF2B5EF4-FFF2-40B4-BE49-F238E27FC236}">
                <a16:creationId xmlns:a16="http://schemas.microsoft.com/office/drawing/2014/main" id="{254CE227-EF74-4909-A579-ECA51B6D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待补：Sigmoid曲线与z、p联动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读数；保留30秒交互演示。</a:t>
            </a:r>
          </a:p>
        </p:txBody>
      </p:sp>
      <p:sp>
        <p:nvSpPr>
          <p:cNvPr id="10" name="slide-7-timing">
            <a:extLst xmlns:a="http://schemas.openxmlformats.org/drawingml/2006/main">
              <a:ext uri="{FF2B5EF4-FFF2-40B4-BE49-F238E27FC236}">
                <a16:creationId xmlns:a16="http://schemas.microsoft.com/office/drawing/2014/main" id="{0DD2F300-115B-48E0-8B58-1C3C0B00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06:45 至 08:15    本页 90 秒</a:t>
            </a:r>
          </a:p>
        </p:txBody>
      </p:sp>
      <p:sp>
        <p:nvSpPr>
          <p:cNvPr id="11" name="slide-7-page">
            <a:extLst xmlns:a="http://schemas.openxmlformats.org/drawingml/2006/main">
              <a:ext uri="{FF2B5EF4-FFF2-40B4-BE49-F238E27FC236}">
                <a16:creationId xmlns:a16="http://schemas.microsoft.com/office/drawing/2014/main" id="{99B46360-1019-4445-85E0-F764892E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11973164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43C82D5F-8C9B-4755-BD52-D74B75FF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交叉熵如何训练</a:t>
            </a:r>
          </a:p>
        </p:txBody>
      </p:sp>
      <p:sp>
        <p:nvSpPr>
          <p:cNvPr id="2" name="slide-8-goal-label">
            <a:extLst xmlns:a="http://schemas.openxmlformats.org/drawingml/2006/main">
              <a:ext uri="{FF2B5EF4-FFF2-40B4-BE49-F238E27FC236}">
                <a16:creationId xmlns:a16="http://schemas.microsoft.com/office/drawing/2014/main" id="{750B451E-9624-401A-B9F5-7B70C4DA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8-goal">
            <a:extLst xmlns:a="http://schemas.openxmlformats.org/drawingml/2006/main">
              <a:ext uri="{FF2B5EF4-FFF2-40B4-BE49-F238E27FC236}">
                <a16:creationId xmlns:a16="http://schemas.microsoft.com/office/drawing/2014/main" id="{EF4DDC47-3B0C-480A-B29E-87D059CA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用“为真实结果分配概率”的视角理解二元交叉熵。</a:t>
            </a:r>
          </a:p>
        </p:txBody>
      </p:sp>
      <p:sp>
        <p:nvSpPr>
          <p:cNvPr id="4" name="slide-8-points-label">
            <a:extLst xmlns:a="http://schemas.openxmlformats.org/drawingml/2006/main">
              <a:ext uri="{FF2B5EF4-FFF2-40B4-BE49-F238E27FC236}">
                <a16:creationId xmlns:a16="http://schemas.microsoft.com/office/drawing/2014/main" id="{78E9BC87-7192-40DA-81F4-896AC888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8-point-1">
            <a:extLst xmlns:a="http://schemas.openxmlformats.org/drawingml/2006/main">
              <a:ext uri="{FF2B5EF4-FFF2-40B4-BE49-F238E27FC236}">
                <a16:creationId xmlns:a16="http://schemas.microsoft.com/office/drawing/2014/main" id="{19A15AFF-AE29-43AA-83C1-692CF99B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真实标签为1时，鼓励预测概率接近1；为0时反过来</a:t>
            </a:r>
          </a:p>
        </p:txBody>
      </p:sp>
      <p:sp>
        <p:nvSpPr>
          <p:cNvPr id="6" name="slide-8-point-2">
            <a:extLst xmlns:a="http://schemas.openxmlformats.org/drawingml/2006/main">
              <a:ext uri="{FF2B5EF4-FFF2-40B4-BE49-F238E27FC236}">
                <a16:creationId xmlns:a16="http://schemas.microsoft.com/office/drawing/2014/main" id="{0A6B654C-A37D-4CF1-8657-4346EE04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对自信却错误的预测给予较大惩罚</a:t>
            </a:r>
          </a:p>
        </p:txBody>
      </p:sp>
      <p:sp>
        <p:nvSpPr>
          <p:cNvPr id="7" name="slide-8-point-3">
            <a:extLst xmlns:a="http://schemas.openxmlformats.org/drawingml/2006/main">
              <a:ext uri="{FF2B5EF4-FFF2-40B4-BE49-F238E27FC236}">
                <a16:creationId xmlns:a16="http://schemas.microsoft.com/office/drawing/2014/main" id="{8987CB66-4D3B-4E83-B79B-30976622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以二元交叉熵为目标更新参数，可加入正则化</a:t>
            </a:r>
          </a:p>
        </p:txBody>
      </p:sp>
      <p:sp>
        <p:nvSpPr>
          <p:cNvPr id="8" name="slide-8-visual-label">
            <a:extLst xmlns:a="http://schemas.openxmlformats.org/drawingml/2006/main">
              <a:ext uri="{FF2B5EF4-FFF2-40B4-BE49-F238E27FC236}">
                <a16:creationId xmlns:a16="http://schemas.microsoft.com/office/drawing/2014/main" id="{585CE1D1-BDBC-4509-B313-32308576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8-visual">
            <a:extLst xmlns:a="http://schemas.openxmlformats.org/drawingml/2006/main">
              <a:ext uri="{FF2B5EF4-FFF2-40B4-BE49-F238E27FC236}">
                <a16:creationId xmlns:a16="http://schemas.microsoft.com/office/drawing/2014/main" id="{18CD1061-6DE6-4A7D-94E0-0CB0229A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待补：真实标签为1时的三个预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测概率及损失对照卡；公式推导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留作课后补充。</a:t>
            </a:r>
          </a:p>
        </p:txBody>
      </p:sp>
      <p:sp>
        <p:nvSpPr>
          <p:cNvPr id="10" name="slide-8-timing">
            <a:extLst xmlns:a="http://schemas.openxmlformats.org/drawingml/2006/main">
              <a:ext uri="{FF2B5EF4-FFF2-40B4-BE49-F238E27FC236}">
                <a16:creationId xmlns:a16="http://schemas.microsoft.com/office/drawing/2014/main" id="{98898ADB-59ED-4BB1-A433-2AAD9FE2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08:15 至 09:30    本页 75 秒</a:t>
            </a:r>
          </a:p>
        </p:txBody>
      </p:sp>
      <p:sp>
        <p:nvSpPr>
          <p:cNvPr id="11" name="slide-8-page">
            <a:extLst xmlns:a="http://schemas.openxmlformats.org/drawingml/2006/main">
              <a:ext uri="{FF2B5EF4-FFF2-40B4-BE49-F238E27FC236}">
                <a16:creationId xmlns:a16="http://schemas.microsoft.com/office/drawing/2014/main" id="{D635A57B-902D-4507-B552-655E4464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1109041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1F4F8687-757F-4870-9A57-03DD645D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阈值与混淆矩阵</a:t>
            </a:r>
          </a:p>
        </p:txBody>
      </p:sp>
      <p:sp>
        <p:nvSpPr>
          <p:cNvPr id="2" name="slide-9-goal-label">
            <a:extLst xmlns:a="http://schemas.openxmlformats.org/drawingml/2006/main">
              <a:ext uri="{FF2B5EF4-FFF2-40B4-BE49-F238E27FC236}">
                <a16:creationId xmlns:a16="http://schemas.microsoft.com/office/drawing/2014/main" id="{66886C12-CF70-4BF1-B009-DA9D2061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9-goal">
            <a:extLst xmlns:a="http://schemas.openxmlformats.org/drawingml/2006/main">
              <a:ext uri="{FF2B5EF4-FFF2-40B4-BE49-F238E27FC236}">
                <a16:creationId xmlns:a16="http://schemas.microsoft.com/office/drawing/2014/main" id="{354BB3E2-39ED-4DDA-AD50-B1186E8A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理解从概率到类别的阈值规则及两类错误的变化。</a:t>
            </a:r>
          </a:p>
        </p:txBody>
      </p:sp>
      <p:sp>
        <p:nvSpPr>
          <p:cNvPr id="4" name="slide-9-points-label">
            <a:extLst xmlns:a="http://schemas.openxmlformats.org/drawingml/2006/main">
              <a:ext uri="{FF2B5EF4-FFF2-40B4-BE49-F238E27FC236}">
                <a16:creationId xmlns:a16="http://schemas.microsoft.com/office/drawing/2014/main" id="{0A3D9A1B-74E5-4FCE-BAE4-F1DB9B3E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9-point-1">
            <a:extLst xmlns:a="http://schemas.openxmlformats.org/drawingml/2006/main">
              <a:ext uri="{FF2B5EF4-FFF2-40B4-BE49-F238E27FC236}">
                <a16:creationId xmlns:a16="http://schemas.microsoft.com/office/drawing/2014/main" id="{84687DB0-D355-4CBD-80D9-E7332D2B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约定p≥阈值判为通过，0.5只是常见起点</a:t>
            </a:r>
          </a:p>
        </p:txBody>
      </p:sp>
      <p:sp>
        <p:nvSpPr>
          <p:cNvPr id="6" name="slide-9-point-2">
            <a:extLst xmlns:a="http://schemas.openxmlformats.org/drawingml/2006/main">
              <a:ext uri="{FF2B5EF4-FFF2-40B4-BE49-F238E27FC236}">
                <a16:creationId xmlns:a16="http://schemas.microsoft.com/office/drawing/2014/main" id="{0969236A-9618-4C13-B090-5CF60CBF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混淆矩阵区分TP、FP、FN、TN</a:t>
            </a:r>
          </a:p>
        </p:txBody>
      </p:sp>
      <p:sp>
        <p:nvSpPr>
          <p:cNvPr id="7" name="slide-9-point-3">
            <a:extLst xmlns:a="http://schemas.openxmlformats.org/drawingml/2006/main">
              <a:ext uri="{FF2B5EF4-FFF2-40B4-BE49-F238E27FC236}">
                <a16:creationId xmlns:a16="http://schemas.microsoft.com/office/drawing/2014/main" id="{2947C2C9-F1EE-4FE7-89F9-1E5369B9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固定模型改变阈值，观察取舍；阈值应在验证集选择</a:t>
            </a:r>
          </a:p>
        </p:txBody>
      </p:sp>
      <p:sp>
        <p:nvSpPr>
          <p:cNvPr id="8" name="slide-9-visual-label">
            <a:extLst xmlns:a="http://schemas.openxmlformats.org/drawingml/2006/main">
              <a:ext uri="{FF2B5EF4-FFF2-40B4-BE49-F238E27FC236}">
                <a16:creationId xmlns:a16="http://schemas.microsoft.com/office/drawing/2014/main" id="{6BC1F291-D5A9-49A1-B26F-A68184D2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9-visual">
            <a:extLst xmlns:a="http://schemas.openxmlformats.org/drawingml/2006/main">
              <a:ext uri="{FF2B5EF4-FFF2-40B4-BE49-F238E27FC236}">
                <a16:creationId xmlns:a16="http://schemas.microsoft.com/office/drawing/2014/main" id="{66B0FC3D-F0EE-44A3-A306-6BD48731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待补：阈值滑块、概率样本带、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带中文含义的混淆矩阵；保留35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秒交互演示。</a:t>
            </a:r>
          </a:p>
        </p:txBody>
      </p:sp>
      <p:sp>
        <p:nvSpPr>
          <p:cNvPr id="10" name="slide-9-timing">
            <a:extLst xmlns:a="http://schemas.openxmlformats.org/drawingml/2006/main">
              <a:ext uri="{FF2B5EF4-FFF2-40B4-BE49-F238E27FC236}">
                <a16:creationId xmlns:a16="http://schemas.microsoft.com/office/drawing/2014/main" id="{91003FF2-9525-4D4D-A406-BCFE0446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09:30 至 11:10    本页 100 秒</a:t>
            </a:r>
          </a:p>
        </p:txBody>
      </p:sp>
      <p:sp>
        <p:nvSpPr>
          <p:cNvPr id="11" name="slide-9-page">
            <a:extLst xmlns:a="http://schemas.openxmlformats.org/drawingml/2006/main">
              <a:ext uri="{FF2B5EF4-FFF2-40B4-BE49-F238E27FC236}">
                <a16:creationId xmlns:a16="http://schemas.microsoft.com/office/drawing/2014/main" id="{B2605365-C7E0-4C23-9E4A-77B56B0F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0070884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BB494941-E022-4366-8E35-CBD6FA3A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二维决策边界</a:t>
            </a:r>
          </a:p>
        </p:txBody>
      </p:sp>
      <p:sp>
        <p:nvSpPr>
          <p:cNvPr id="2" name="slide-10-goal-label">
            <a:extLst xmlns:a="http://schemas.openxmlformats.org/drawingml/2006/main">
              <a:ext uri="{FF2B5EF4-FFF2-40B4-BE49-F238E27FC236}">
                <a16:creationId xmlns:a16="http://schemas.microsoft.com/office/drawing/2014/main" id="{15D632F4-7044-4D28-97F2-E4296822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10-goal">
            <a:extLst xmlns:a="http://schemas.openxmlformats.org/drawingml/2006/main">
              <a:ext uri="{FF2B5EF4-FFF2-40B4-BE49-F238E27FC236}">
                <a16:creationId xmlns:a16="http://schemas.microsoft.com/office/drawing/2014/main" id="{96420D48-763C-4EA4-B0D5-7CE67823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用二维图解释逻辑回归为何具有线性决策边界。</a:t>
            </a:r>
          </a:p>
        </p:txBody>
      </p:sp>
      <p:sp>
        <p:nvSpPr>
          <p:cNvPr id="4" name="slide-10-points-label">
            <a:extLst xmlns:a="http://schemas.openxmlformats.org/drawingml/2006/main">
              <a:ext uri="{FF2B5EF4-FFF2-40B4-BE49-F238E27FC236}">
                <a16:creationId xmlns:a16="http://schemas.microsoft.com/office/drawing/2014/main" id="{9B417724-3118-4B2A-A6C1-4EF5ED85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10-point-1">
            <a:extLst xmlns:a="http://schemas.openxmlformats.org/drawingml/2006/main">
              <a:ext uri="{FF2B5EF4-FFF2-40B4-BE49-F238E27FC236}">
                <a16:creationId xmlns:a16="http://schemas.microsoft.com/office/drawing/2014/main" id="{BD11CC38-823F-467E-8D75-C483036A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增加练习完成率，让两个特征组成二维平面</a:t>
            </a:r>
          </a:p>
        </p:txBody>
      </p:sp>
      <p:sp>
        <p:nvSpPr>
          <p:cNvPr id="6" name="slide-10-point-2">
            <a:extLst xmlns:a="http://schemas.openxmlformats.org/drawingml/2006/main">
              <a:ext uri="{FF2B5EF4-FFF2-40B4-BE49-F238E27FC236}">
                <a16:creationId xmlns:a16="http://schemas.microsoft.com/office/drawing/2014/main" id="{5F2D4767-2AC5-48BF-B69D-5E07601F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固定阈值对应一条线性决策边界</a:t>
            </a:r>
          </a:p>
        </p:txBody>
      </p:sp>
      <p:sp>
        <p:nvSpPr>
          <p:cNvPr id="7" name="slide-10-point-3">
            <a:extLst xmlns:a="http://schemas.openxmlformats.org/drawingml/2006/main">
              <a:ext uri="{FF2B5EF4-FFF2-40B4-BE49-F238E27FC236}">
                <a16:creationId xmlns:a16="http://schemas.microsoft.com/office/drawing/2014/main" id="{D76BE5FD-0C61-4BD9-84E7-0F8B8CA3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Sigmoid是曲线，不意味着原始特征中的边界会弯曲</a:t>
            </a:r>
          </a:p>
        </p:txBody>
      </p:sp>
      <p:sp>
        <p:nvSpPr>
          <p:cNvPr id="8" name="slide-10-visual-label">
            <a:extLst xmlns:a="http://schemas.openxmlformats.org/drawingml/2006/main">
              <a:ext uri="{FF2B5EF4-FFF2-40B4-BE49-F238E27FC236}">
                <a16:creationId xmlns:a16="http://schemas.microsoft.com/office/drawing/2014/main" id="{44FA8388-2A0A-4299-983A-09A27573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10-visual">
            <a:extLst xmlns:a="http://schemas.openxmlformats.org/drawingml/2006/main">
              <a:ext uri="{FF2B5EF4-FFF2-40B4-BE49-F238E27FC236}">
                <a16:creationId xmlns:a16="http://schemas.microsoft.com/office/drawing/2014/main" id="{976D7289-BA51-44A4-931A-1F58D09A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待补：学习时长×练习完成率的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模拟散点图，直线边界与两侧概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率背景；再放一张需要弯曲边界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的数据示意图。</a:t>
            </a:r>
          </a:p>
        </p:txBody>
      </p:sp>
      <p:sp>
        <p:nvSpPr>
          <p:cNvPr id="10" name="slide-10-timing">
            <a:extLst xmlns:a="http://schemas.openxmlformats.org/drawingml/2006/main">
              <a:ext uri="{FF2B5EF4-FFF2-40B4-BE49-F238E27FC236}">
                <a16:creationId xmlns:a16="http://schemas.microsoft.com/office/drawing/2014/main" id="{D0D9E317-B056-4B1D-8EB8-26FC6295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11:10 至 12:50    本页 100 秒</a:t>
            </a:r>
          </a:p>
        </p:txBody>
      </p:sp>
      <p:sp>
        <p:nvSpPr>
          <p:cNvPr id="11" name="slide-10-page">
            <a:extLst xmlns:a="http://schemas.openxmlformats.org/drawingml/2006/main">
              <a:ext uri="{FF2B5EF4-FFF2-40B4-BE49-F238E27FC236}">
                <a16:creationId xmlns:a16="http://schemas.microsoft.com/office/drawing/2014/main" id="{25B380FB-5E55-4537-B085-60BCFCFD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12205901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EB3ABE22-23A1-487B-BA49-02EA835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两种任务怎样评价</a:t>
            </a:r>
          </a:p>
        </p:txBody>
      </p:sp>
      <p:sp>
        <p:nvSpPr>
          <p:cNvPr id="2" name="slide-11-goal-label">
            <a:extLst xmlns:a="http://schemas.openxmlformats.org/drawingml/2006/main">
              <a:ext uri="{FF2B5EF4-FFF2-40B4-BE49-F238E27FC236}">
                <a16:creationId xmlns:a16="http://schemas.microsoft.com/office/drawing/2014/main" id="{C977510F-805B-4EB2-B742-D3BAA710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11-goal">
            <a:extLst xmlns:a="http://schemas.openxmlformats.org/drawingml/2006/main">
              <a:ext uri="{FF2B5EF4-FFF2-40B4-BE49-F238E27FC236}">
                <a16:creationId xmlns:a16="http://schemas.microsoft.com/office/drawing/2014/main" id="{B6BD3F63-660A-4677-9996-FF2BECFC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按照预测任务选择指标，避免准确率与R²的常见误读。</a:t>
            </a:r>
          </a:p>
        </p:txBody>
      </p:sp>
      <p:sp>
        <p:nvSpPr>
          <p:cNvPr id="4" name="slide-11-points-label">
            <a:extLst xmlns:a="http://schemas.openxmlformats.org/drawingml/2006/main">
              <a:ext uri="{FF2B5EF4-FFF2-40B4-BE49-F238E27FC236}">
                <a16:creationId xmlns:a16="http://schemas.microsoft.com/office/drawing/2014/main" id="{6E83C1F6-7F3B-4311-B114-F0AB56D0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11-point-1">
            <a:extLst xmlns:a="http://schemas.openxmlformats.org/drawingml/2006/main">
              <a:ext uri="{FF2B5EF4-FFF2-40B4-BE49-F238E27FC236}">
                <a16:creationId xmlns:a16="http://schemas.microsoft.com/office/drawing/2014/main" id="{681EDD63-0896-4459-AC18-1BE22661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回归：MAE/RMSE回答数值误差大小</a:t>
            </a:r>
          </a:p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R²与均值基线比较</a:t>
            </a:r>
          </a:p>
        </p:txBody>
      </p:sp>
      <p:sp>
        <p:nvSpPr>
          <p:cNvPr id="6" name="slide-11-point-2">
            <a:extLst xmlns:a="http://schemas.openxmlformats.org/drawingml/2006/main">
              <a:ext uri="{FF2B5EF4-FFF2-40B4-BE49-F238E27FC236}">
                <a16:creationId xmlns:a16="http://schemas.microsoft.com/office/drawing/2014/main" id="{431B350F-0BE0-4AC4-874B-E8CF6ED6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分类：准确率结合精确率、召回率和F1理解</a:t>
            </a:r>
          </a:p>
        </p:txBody>
      </p:sp>
      <p:sp>
        <p:nvSpPr>
          <p:cNvPr id="7" name="slide-11-point-3">
            <a:extLst xmlns:a="http://schemas.openxmlformats.org/drawingml/2006/main">
              <a:ext uri="{FF2B5EF4-FFF2-40B4-BE49-F238E27FC236}">
                <a16:creationId xmlns:a16="http://schemas.microsoft.com/office/drawing/2014/main" id="{5AF03A8C-B798-4D3D-935E-65AADAF6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区分类别决策质量与概率质量，避免单指标结论</a:t>
            </a:r>
          </a:p>
        </p:txBody>
      </p:sp>
      <p:sp>
        <p:nvSpPr>
          <p:cNvPr id="8" name="slide-11-visual-label">
            <a:extLst xmlns:a="http://schemas.openxmlformats.org/drawingml/2006/main">
              <a:ext uri="{FF2B5EF4-FFF2-40B4-BE49-F238E27FC236}">
                <a16:creationId xmlns:a16="http://schemas.microsoft.com/office/drawing/2014/main" id="{943C7238-9B08-4F68-A811-58A725ED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11-visual">
            <a:extLst xmlns:a="http://schemas.openxmlformats.org/drawingml/2006/main">
              <a:ext uri="{FF2B5EF4-FFF2-40B4-BE49-F238E27FC236}">
                <a16:creationId xmlns:a16="http://schemas.microsoft.com/office/drawing/2014/main" id="{079CEADF-D47C-4E6D-95B4-0FD3B0AE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待补：回归/分类指标对照表；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另用100个教学模拟样本展示类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别不平衡的准确率陷阱。</a:t>
            </a:r>
          </a:p>
        </p:txBody>
      </p:sp>
      <p:sp>
        <p:nvSpPr>
          <p:cNvPr id="10" name="slide-11-timing">
            <a:extLst xmlns:a="http://schemas.openxmlformats.org/drawingml/2006/main">
              <a:ext uri="{FF2B5EF4-FFF2-40B4-BE49-F238E27FC236}">
                <a16:creationId xmlns:a16="http://schemas.microsoft.com/office/drawing/2014/main" id="{85EE0D2A-99C0-4817-9F55-5C337DB8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12:50 至 14:20    本页 90 秒</a:t>
            </a:r>
          </a:p>
        </p:txBody>
      </p:sp>
      <p:sp>
        <p:nvSpPr>
          <p:cNvPr id="11" name="slide-11-page">
            <a:extLst xmlns:a="http://schemas.openxmlformats.org/drawingml/2006/main">
              <a:ext uri="{FF2B5EF4-FFF2-40B4-BE49-F238E27FC236}">
                <a16:creationId xmlns:a16="http://schemas.microsoft.com/office/drawing/2014/main" id="{E45FC5EF-4638-41B6-AA8C-EBA7CE1E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19050252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12884FBC-2D15-4A6A-BA8A-337504E7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一次规范的建模实验</a:t>
            </a:r>
          </a:p>
        </p:txBody>
      </p:sp>
      <p:sp>
        <p:nvSpPr>
          <p:cNvPr id="2" name="slide-12-goal-label">
            <a:extLst xmlns:a="http://schemas.openxmlformats.org/drawingml/2006/main">
              <a:ext uri="{FF2B5EF4-FFF2-40B4-BE49-F238E27FC236}">
                <a16:creationId xmlns:a16="http://schemas.microsoft.com/office/drawing/2014/main" id="{89671379-859E-438E-A8F6-BED19125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12-goal">
            <a:extLst xmlns:a="http://schemas.openxmlformats.org/drawingml/2006/main">
              <a:ext uri="{FF2B5EF4-FFF2-40B4-BE49-F238E27FC236}">
                <a16:creationId xmlns:a16="http://schemas.microsoft.com/office/drawing/2014/main" id="{6BE890F3-140A-40CC-9E33-6C0D5223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给出可以照着完成的实验流程，并建立可信评价边界。</a:t>
            </a:r>
          </a:p>
        </p:txBody>
      </p:sp>
      <p:sp>
        <p:nvSpPr>
          <p:cNvPr id="4" name="slide-12-points-label">
            <a:extLst xmlns:a="http://schemas.openxmlformats.org/drawingml/2006/main">
              <a:ext uri="{FF2B5EF4-FFF2-40B4-BE49-F238E27FC236}">
                <a16:creationId xmlns:a16="http://schemas.microsoft.com/office/drawing/2014/main" id="{B0E57A13-5DA4-40A6-BCFB-A76899A1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12-point-1">
            <a:extLst xmlns:a="http://schemas.openxmlformats.org/drawingml/2006/main">
              <a:ext uri="{FF2B5EF4-FFF2-40B4-BE49-F238E27FC236}">
                <a16:creationId xmlns:a16="http://schemas.microsoft.com/office/drawing/2014/main" id="{ABB09260-6215-405F-9C54-C5E67AB6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固定教学模拟数据，先划分训练/验证/测试集并建立基线</a:t>
            </a:r>
          </a:p>
        </p:txBody>
      </p:sp>
      <p:sp>
        <p:nvSpPr>
          <p:cNvPr id="6" name="slide-12-point-2">
            <a:extLst xmlns:a="http://schemas.openxmlformats.org/drawingml/2006/main">
              <a:ext uri="{FF2B5EF4-FFF2-40B4-BE49-F238E27FC236}">
                <a16:creationId xmlns:a16="http://schemas.microsoft.com/office/drawing/2014/main" id="{85DDF414-B6B9-4030-8DCD-1A7E5238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预处理只拟合训练集，训练模型与验证选参</a:t>
            </a:r>
          </a:p>
        </p:txBody>
      </p:sp>
      <p:sp>
        <p:nvSpPr>
          <p:cNvPr id="7" name="slide-12-point-3">
            <a:extLst xmlns:a="http://schemas.openxmlformats.org/drawingml/2006/main">
              <a:ext uri="{FF2B5EF4-FFF2-40B4-BE49-F238E27FC236}">
                <a16:creationId xmlns:a16="http://schemas.microsoft.com/office/drawing/2014/main" id="{6242DE32-C873-4A34-A15F-3359E58F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最后使用测试集一次报告结果，记录数据与设置</a:t>
            </a:r>
          </a:p>
        </p:txBody>
      </p:sp>
      <p:sp>
        <p:nvSpPr>
          <p:cNvPr id="8" name="slide-12-visual-label">
            <a:extLst xmlns:a="http://schemas.openxmlformats.org/drawingml/2006/main">
              <a:ext uri="{FF2B5EF4-FFF2-40B4-BE49-F238E27FC236}">
                <a16:creationId xmlns:a16="http://schemas.microsoft.com/office/drawing/2014/main" id="{A8D18D5F-2E69-490A-A636-E46FA468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12-visual">
            <a:extLst xmlns:a="http://schemas.openxmlformats.org/drawingml/2006/main">
              <a:ext uri="{FF2B5EF4-FFF2-40B4-BE49-F238E27FC236}">
                <a16:creationId xmlns:a16="http://schemas.microsoft.com/office/drawing/2014/main" id="{0C30AC43-F96D-43DF-BBCF-4F557AA6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待补：分区数据流程图和空白结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果表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填写项：划分方式、随机种子、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特征、超参数、阈值与评价指标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未运行处标“待运行”</a:t>
            </a:r>
          </a:p>
        </p:txBody>
      </p:sp>
      <p:sp>
        <p:nvSpPr>
          <p:cNvPr id="10" name="slide-12-timing">
            <a:extLst xmlns:a="http://schemas.openxmlformats.org/drawingml/2006/main">
              <a:ext uri="{FF2B5EF4-FFF2-40B4-BE49-F238E27FC236}">
                <a16:creationId xmlns:a16="http://schemas.microsoft.com/office/drawing/2014/main" id="{5F29FF10-5E19-4059-8536-8E2018CF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14:20 至 15:50    本页 90 秒</a:t>
            </a:r>
          </a:p>
        </p:txBody>
      </p:sp>
      <p:sp>
        <p:nvSpPr>
          <p:cNvPr id="11" name="slide-12-page">
            <a:extLst xmlns:a="http://schemas.openxmlformats.org/drawingml/2006/main">
              <a:ext uri="{FF2B5EF4-FFF2-40B4-BE49-F238E27FC236}">
                <a16:creationId xmlns:a16="http://schemas.microsoft.com/office/drawing/2014/main" id="{F915C700-EE91-4138-AFF4-DB076DD2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7054684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D70E6EC9-8131-4540-9E02-9A71AD1C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算法对照与适用边界</a:t>
            </a:r>
          </a:p>
        </p:txBody>
      </p:sp>
      <p:sp>
        <p:nvSpPr>
          <p:cNvPr id="2" name="slide-13-goal-label">
            <a:extLst xmlns:a="http://schemas.openxmlformats.org/drawingml/2006/main">
              <a:ext uri="{FF2B5EF4-FFF2-40B4-BE49-F238E27FC236}">
                <a16:creationId xmlns:a16="http://schemas.microsoft.com/office/drawing/2014/main" id="{D2E63060-096D-4933-AAD4-AA11BF8E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13-goal">
            <a:extLst xmlns:a="http://schemas.openxmlformats.org/drawingml/2006/main">
              <a:ext uri="{FF2B5EF4-FFF2-40B4-BE49-F238E27FC236}">
                <a16:creationId xmlns:a16="http://schemas.microsoft.com/office/drawing/2014/main" id="{099AA3A9-F793-479C-ADB3-31B39AB6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用统一框架对照两个算法，并说明它们适合作为基线的原因。</a:t>
            </a:r>
          </a:p>
        </p:txBody>
      </p:sp>
      <p:sp>
        <p:nvSpPr>
          <p:cNvPr id="4" name="slide-13-points-label">
            <a:extLst xmlns:a="http://schemas.openxmlformats.org/drawingml/2006/main">
              <a:ext uri="{FF2B5EF4-FFF2-40B4-BE49-F238E27FC236}">
                <a16:creationId xmlns:a16="http://schemas.microsoft.com/office/drawing/2014/main" id="{5B60DFC9-C88E-4C42-92A5-ECE37FA0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13-point-1">
            <a:extLst xmlns:a="http://schemas.openxmlformats.org/drawingml/2006/main">
              <a:ext uri="{FF2B5EF4-FFF2-40B4-BE49-F238E27FC236}">
                <a16:creationId xmlns:a16="http://schemas.microsoft.com/office/drawing/2014/main" id="{B6E0BA8E-012F-4F98-9A3E-622E4108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共同点：线性加权、参数学习</a:t>
            </a:r>
          </a:p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可作为可解释的基础模型</a:t>
            </a:r>
          </a:p>
        </p:txBody>
      </p:sp>
      <p:sp>
        <p:nvSpPr>
          <p:cNvPr id="6" name="slide-13-point-2">
            <a:extLst xmlns:a="http://schemas.openxmlformats.org/drawingml/2006/main">
              <a:ext uri="{FF2B5EF4-FFF2-40B4-BE49-F238E27FC236}">
                <a16:creationId xmlns:a16="http://schemas.microsoft.com/office/drawing/2014/main" id="{25976F54-5177-4C60-A23A-6EA7095D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不同点：目标、输出含义、训练损失与评价指标</a:t>
            </a:r>
          </a:p>
        </p:txBody>
      </p:sp>
      <p:sp>
        <p:nvSpPr>
          <p:cNvPr id="7" name="slide-13-point-3">
            <a:extLst xmlns:a="http://schemas.openxmlformats.org/drawingml/2006/main">
              <a:ext uri="{FF2B5EF4-FFF2-40B4-BE49-F238E27FC236}">
                <a16:creationId xmlns:a16="http://schemas.microsoft.com/office/drawing/2014/main" id="{CFF81722-06DC-4FBE-B42D-35884CE7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限制：异常值、特征关系、正则化、概率校准与外推</a:t>
            </a:r>
          </a:p>
        </p:txBody>
      </p:sp>
      <p:sp>
        <p:nvSpPr>
          <p:cNvPr id="8" name="slide-13-visual-label">
            <a:extLst xmlns:a="http://schemas.openxmlformats.org/drawingml/2006/main">
              <a:ext uri="{FF2B5EF4-FFF2-40B4-BE49-F238E27FC236}">
                <a16:creationId xmlns:a16="http://schemas.microsoft.com/office/drawing/2014/main" id="{3131E952-F707-4CFE-A39A-0B2B8474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13-visual">
            <a:extLst xmlns:a="http://schemas.openxmlformats.org/drawingml/2006/main">
              <a:ext uri="{FF2B5EF4-FFF2-40B4-BE49-F238E27FC236}">
                <a16:creationId xmlns:a16="http://schemas.microsoft.com/office/drawing/2014/main" id="{7BB2C685-B66C-41F3-A17E-C18C834B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待补：两列算法对照表；页底放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“先做基线，再验证是否需要更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复杂模型”的一句结论。</a:t>
            </a:r>
          </a:p>
        </p:txBody>
      </p:sp>
      <p:sp>
        <p:nvSpPr>
          <p:cNvPr id="10" name="slide-13-timing">
            <a:extLst xmlns:a="http://schemas.openxmlformats.org/drawingml/2006/main">
              <a:ext uri="{FF2B5EF4-FFF2-40B4-BE49-F238E27FC236}">
                <a16:creationId xmlns:a16="http://schemas.microsoft.com/office/drawing/2014/main" id="{3228EABD-580F-4C63-BDD3-371A655B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15:50 至 16:50    本页 60 秒</a:t>
            </a:r>
          </a:p>
        </p:txBody>
      </p:sp>
      <p:sp>
        <p:nvSpPr>
          <p:cNvPr id="11" name="slide-13-page">
            <a:extLst xmlns:a="http://schemas.openxmlformats.org/drawingml/2006/main">
              <a:ext uri="{FF2B5EF4-FFF2-40B4-BE49-F238E27FC236}">
                <a16:creationId xmlns:a16="http://schemas.microsoft.com/office/drawing/2014/main" id="{E68D2E72-85D0-4C06-994A-BD46BF1B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9842738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B0AC985A-44A9-497B-AD1A-4BF15805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02F52"/>
                </a:solidFill>
                <a:latin typeface="Microsoft YaHei"/>
                <a:ea typeface="Microsoft YaHei"/>
                <a:cs typeface="Microsoft YaHei"/>
              </a:rPr>
              <a:t>总结与提问</a:t>
            </a:r>
          </a:p>
        </p:txBody>
      </p:sp>
      <p:sp>
        <p:nvSpPr>
          <p:cNvPr id="2" name="slide-14-goal-label">
            <a:extLst xmlns:a="http://schemas.openxmlformats.org/drawingml/2006/main">
              <a:ext uri="{FF2B5EF4-FFF2-40B4-BE49-F238E27FC236}">
                <a16:creationId xmlns:a16="http://schemas.microsoft.com/office/drawing/2014/main" id="{1C8C92C5-81F6-47A8-B6F8-EBC28FDD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本页目标</a:t>
            </a:r>
          </a:p>
        </p:txBody>
      </p:sp>
      <p:sp>
        <p:nvSpPr>
          <p:cNvPr id="3" name="slide-14-goal">
            <a:extLst xmlns:a="http://schemas.openxmlformats.org/drawingml/2006/main">
              <a:ext uri="{FF2B5EF4-FFF2-40B4-BE49-F238E27FC236}">
                <a16:creationId xmlns:a16="http://schemas.microsoft.com/office/drawing/2014/main" id="{AF19BA0F-8279-4382-BAF4-FE882442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939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用三道判断题回收知识，给出一条完整方法链。</a:t>
            </a:r>
          </a:p>
        </p:txBody>
      </p:sp>
      <p:sp>
        <p:nvSpPr>
          <p:cNvPr id="4" name="slide-14-points-label">
            <a:extLst xmlns:a="http://schemas.openxmlformats.org/drawingml/2006/main">
              <a:ext uri="{FF2B5EF4-FFF2-40B4-BE49-F238E27FC236}">
                <a16:creationId xmlns:a16="http://schemas.microsoft.com/office/drawing/2014/main" id="{84403B14-2D77-4594-B237-FB5DC770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讲述顺序</a:t>
            </a:r>
          </a:p>
        </p:txBody>
      </p:sp>
      <p:sp>
        <p:nvSpPr>
          <p:cNvPr id="5" name="slide-14-point-1">
            <a:extLst xmlns:a="http://schemas.openxmlformats.org/drawingml/2006/main">
              <a:ext uri="{FF2B5EF4-FFF2-40B4-BE49-F238E27FC236}">
                <a16:creationId xmlns:a16="http://schemas.microsoft.com/office/drawing/2014/main" id="{5565C7D2-ECAB-4C01-80E0-FF7D7AF5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1. 预测多少：线性回归；预测类别概率：逻辑回归</a:t>
            </a:r>
          </a:p>
        </p:txBody>
      </p:sp>
      <p:sp>
        <p:nvSpPr>
          <p:cNvPr id="6" name="slide-14-point-2">
            <a:extLst xmlns:a="http://schemas.openxmlformats.org/drawingml/2006/main">
              <a:ext uri="{FF2B5EF4-FFF2-40B4-BE49-F238E27FC236}">
                <a16:creationId xmlns:a16="http://schemas.microsoft.com/office/drawing/2014/main" id="{CB01DD91-3186-432A-9579-B09D072F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2. 模型→损失→优化→决策→评价，串起完整学习过程</a:t>
            </a:r>
          </a:p>
        </p:txBody>
      </p:sp>
      <p:sp>
        <p:nvSpPr>
          <p:cNvPr id="7" name="slide-14-point-3">
            <a:extLst xmlns:a="http://schemas.openxmlformats.org/drawingml/2006/main">
              <a:ext uri="{FF2B5EF4-FFF2-40B4-BE49-F238E27FC236}">
                <a16:creationId xmlns:a16="http://schemas.microsoft.com/office/drawing/2014/main" id="{97DF5CF5-3D49-4184-A85D-BD7EEAF4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715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E57"/>
                </a:solidFill>
                <a:latin typeface="Microsoft YaHei"/>
                <a:ea typeface="Microsoft YaHei"/>
                <a:cs typeface="Microsoft YaHei"/>
              </a:rPr>
              <a:t>3. 以短问题复盘，并为20分钟版本预留问答扩展</a:t>
            </a:r>
          </a:p>
        </p:txBody>
      </p:sp>
      <p:sp>
        <p:nvSpPr>
          <p:cNvPr id="8" name="slide-14-visual-label">
            <a:extLst xmlns:a="http://schemas.openxmlformats.org/drawingml/2006/main">
              <a:ext uri="{FF2B5EF4-FFF2-40B4-BE49-F238E27FC236}">
                <a16:creationId xmlns:a16="http://schemas.microsoft.com/office/drawing/2014/main" id="{4C2F40BA-4FFC-4DD4-A582-B9457BA8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3409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D88"/>
                </a:solidFill>
                <a:latin typeface="Microsoft YaHei"/>
                <a:ea typeface="Microsoft YaHei"/>
                <a:cs typeface="Microsoft YaHei"/>
              </a:rPr>
              <a:t>后续配图建议</a:t>
            </a:r>
          </a:p>
        </p:txBody>
      </p:sp>
      <p:sp>
        <p:nvSpPr>
          <p:cNvPr id="9" name="slide-14-visual">
            <a:extLst xmlns:a="http://schemas.openxmlformats.org/drawingml/2006/main">
              <a:ext uri="{FF2B5EF4-FFF2-40B4-BE49-F238E27FC236}">
                <a16:creationId xmlns:a16="http://schemas.microsoft.com/office/drawing/2014/main" id="{D5FE3169-4C15-4841-8F17-8AB2670B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099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待补：三道口头快问卡和一条算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法流程箭头；参考资料放页脚或</a:t>
            </a:r>
          </a:p>
          <a:p xmlns:a="http://schemas.openxmlformats.org/drawingml/2006/main">
            <a:pPr algn="l">
              <a:def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备注。</a:t>
            </a:r>
          </a:p>
        </p:txBody>
      </p:sp>
      <p:sp>
        <p:nvSpPr>
          <p:cNvPr id="10" name="slide-14-timing">
            <a:extLst xmlns:a="http://schemas.openxmlformats.org/drawingml/2006/main">
              <a:ext uri="{FF2B5EF4-FFF2-40B4-BE49-F238E27FC236}">
                <a16:creationId xmlns:a16="http://schemas.microsoft.com/office/drawing/2014/main" id="{4A947A60-6F60-4A47-A927-02C96713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16:50 至 18:00    本页 70 秒</a:t>
            </a:r>
          </a:p>
        </p:txBody>
      </p:sp>
      <p:sp>
        <p:nvSpPr>
          <p:cNvPr id="11" name="slide-14-page">
            <a:extLst xmlns:a="http://schemas.openxmlformats.org/drawingml/2006/main">
              <a:ext uri="{FF2B5EF4-FFF2-40B4-BE49-F238E27FC236}">
                <a16:creationId xmlns:a16="http://schemas.microsoft.com/office/drawing/2014/main" id="{2A23BBEE-340A-4763-AB8D-A95B91AF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3788D"/>
                </a:solidFill>
                <a:latin typeface="Microsoft YaHei"/>
                <a:ea typeface="Microsoft YaHei"/>
                <a:cs typeface="Microsoft YaHei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8780388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2026-09-12T06:33:56.2780000Z</dcterms:created>
  <dcterms:modified xsi:type="dcterms:W3CDTF">2026-09-12T06:33:56.2780000Z</dcterms:modified>
</coreProperties>
</file>